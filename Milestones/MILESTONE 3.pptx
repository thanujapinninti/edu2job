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58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59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260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261" r:id="rId50"/>
    <p:sldId id="314" r:id="rId51"/>
    <p:sldId id="315" r:id="rId52"/>
    <p:sldId id="316" r:id="rId53"/>
    <p:sldId id="262" r:id="rId54"/>
    <p:sldId id="317" r:id="rId55"/>
    <p:sldId id="318" r:id="rId56"/>
    <p:sldId id="319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263" r:id="rId65"/>
    <p:sldId id="327" r:id="rId66"/>
    <p:sldId id="328" r:id="rId67"/>
    <p:sldId id="329" r:id="rId68"/>
    <p:sldId id="330" r:id="rId69"/>
    <p:sldId id="331" r:id="rId70"/>
    <p:sldId id="332" r:id="rId71"/>
    <p:sldId id="333" r:id="rId72"/>
    <p:sldId id="334" r:id="rId73"/>
    <p:sldId id="26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265" r:id="rId83"/>
    <p:sldId id="343" r:id="rId84"/>
    <p:sldId id="344" r:id="rId85"/>
    <p:sldId id="345" r:id="rId86"/>
    <p:sldId id="346" r:id="rId87"/>
    <p:sldId id="347" r:id="rId88"/>
    <p:sldId id="348" r:id="rId89"/>
    <p:sldId id="266" r:id="rId90"/>
    <p:sldId id="349" r:id="rId91"/>
    <p:sldId id="350" r:id="rId92"/>
    <p:sldId id="351" r:id="rId93"/>
    <p:sldId id="352" r:id="rId94"/>
    <p:sldId id="353" r:id="rId95"/>
    <p:sldId id="354" r:id="rId96"/>
    <p:sldId id="267" r:id="rId97"/>
    <p:sldId id="268" r:id="rId98"/>
    <p:sldId id="269" r:id="rId99"/>
    <p:sldId id="270" r:id="rId10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94A16E-347F-4044-AE78-1EAD87AC838F}">
          <p14:sldIdLst>
            <p14:sldId id="256"/>
            <p14:sldId id="257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58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59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260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261"/>
            <p14:sldId id="314"/>
            <p14:sldId id="315"/>
            <p14:sldId id="316"/>
            <p14:sldId id="262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263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264"/>
            <p14:sldId id="335"/>
            <p14:sldId id="336"/>
            <p14:sldId id="337"/>
            <p14:sldId id="338"/>
          </p14:sldIdLst>
        </p14:section>
        <p14:section name="Untitled Section" id="{5ADBA543-39CB-450F-9599-6636EEFFEBB5}">
          <p14:sldIdLst>
            <p14:sldId id="339"/>
            <p14:sldId id="340"/>
            <p14:sldId id="341"/>
            <p14:sldId id="342"/>
            <p14:sldId id="265"/>
            <p14:sldId id="343"/>
            <p14:sldId id="344"/>
            <p14:sldId id="345"/>
            <p14:sldId id="346"/>
            <p14:sldId id="347"/>
            <p14:sldId id="348"/>
            <p14:sldId id="266"/>
            <p14:sldId id="349"/>
            <p14:sldId id="350"/>
            <p14:sldId id="351"/>
            <p14:sldId id="352"/>
            <p14:sldId id="353"/>
            <p14:sldId id="354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Yuvaraj" userId="c9a9934f14c5a20d" providerId="LiveId" clId="{9D138E8F-448E-4B68-9B20-929C3F7066AC}"/>
    <pc:docChg chg="addSld modSld addSection modSection">
      <pc:chgData name="Pavithra Yuvaraj" userId="c9a9934f14c5a20d" providerId="LiveId" clId="{9D138E8F-448E-4B68-9B20-929C3F7066AC}" dt="2025-12-15T16:15:24.379" v="149" actId="22"/>
      <pc:docMkLst>
        <pc:docMk/>
      </pc:docMkLst>
      <pc:sldChg chg="modSp mod">
        <pc:chgData name="Pavithra Yuvaraj" userId="c9a9934f14c5a20d" providerId="LiveId" clId="{9D138E8F-448E-4B68-9B20-929C3F7066AC}" dt="2025-12-15T13:06:50.797" v="68" actId="1076"/>
        <pc:sldMkLst>
          <pc:docMk/>
          <pc:sldMk cId="2851334038" sldId="263"/>
        </pc:sldMkLst>
        <pc:spChg chg="mod">
          <ac:chgData name="Pavithra Yuvaraj" userId="c9a9934f14c5a20d" providerId="LiveId" clId="{9D138E8F-448E-4B68-9B20-929C3F7066AC}" dt="2025-12-15T13:06:50.797" v="68" actId="1076"/>
          <ac:spMkLst>
            <pc:docMk/>
            <pc:sldMk cId="2851334038" sldId="263"/>
            <ac:spMk id="3" creationId="{2F30F10F-15F7-B65D-1AB6-C77B26AF304B}"/>
          </ac:spMkLst>
        </pc:spChg>
      </pc:sldChg>
      <pc:sldChg chg="addSp new mod">
        <pc:chgData name="Pavithra Yuvaraj" userId="c9a9934f14c5a20d" providerId="LiveId" clId="{9D138E8F-448E-4B68-9B20-929C3F7066AC}" dt="2025-12-15T13:02:45.990" v="1" actId="22"/>
        <pc:sldMkLst>
          <pc:docMk/>
          <pc:sldMk cId="1207300680" sldId="317"/>
        </pc:sldMkLst>
        <pc:spChg chg="add">
          <ac:chgData name="Pavithra Yuvaraj" userId="c9a9934f14c5a20d" providerId="LiveId" clId="{9D138E8F-448E-4B68-9B20-929C3F7066AC}" dt="2025-12-15T13:02:45.990" v="1" actId="22"/>
          <ac:spMkLst>
            <pc:docMk/>
            <pc:sldMk cId="1207300680" sldId="317"/>
            <ac:spMk id="3" creationId="{7B034BE1-6963-BB21-0EA8-DEA32644CD2D}"/>
          </ac:spMkLst>
        </pc:spChg>
      </pc:sldChg>
      <pc:sldChg chg="addSp new mod">
        <pc:chgData name="Pavithra Yuvaraj" userId="c9a9934f14c5a20d" providerId="LiveId" clId="{9D138E8F-448E-4B68-9B20-929C3F7066AC}" dt="2025-12-15T13:02:58.467" v="3" actId="22"/>
        <pc:sldMkLst>
          <pc:docMk/>
          <pc:sldMk cId="618136959" sldId="318"/>
        </pc:sldMkLst>
        <pc:spChg chg="add">
          <ac:chgData name="Pavithra Yuvaraj" userId="c9a9934f14c5a20d" providerId="LiveId" clId="{9D138E8F-448E-4B68-9B20-929C3F7066AC}" dt="2025-12-15T13:02:58.467" v="3" actId="22"/>
          <ac:spMkLst>
            <pc:docMk/>
            <pc:sldMk cId="618136959" sldId="318"/>
            <ac:spMk id="3" creationId="{46C571CD-32F5-570B-36CB-F65487CE37C5}"/>
          </ac:spMkLst>
        </pc:spChg>
      </pc:sldChg>
      <pc:sldChg chg="addSp new mod">
        <pc:chgData name="Pavithra Yuvaraj" userId="c9a9934f14c5a20d" providerId="LiveId" clId="{9D138E8F-448E-4B68-9B20-929C3F7066AC}" dt="2025-12-15T13:03:17.220" v="5" actId="22"/>
        <pc:sldMkLst>
          <pc:docMk/>
          <pc:sldMk cId="1129307834" sldId="319"/>
        </pc:sldMkLst>
        <pc:spChg chg="add">
          <ac:chgData name="Pavithra Yuvaraj" userId="c9a9934f14c5a20d" providerId="LiveId" clId="{9D138E8F-448E-4B68-9B20-929C3F7066AC}" dt="2025-12-15T13:03:17.220" v="5" actId="22"/>
          <ac:spMkLst>
            <pc:docMk/>
            <pc:sldMk cId="1129307834" sldId="319"/>
            <ac:spMk id="3" creationId="{ED996E56-9B14-10CC-44AF-959C346AFDBA}"/>
          </ac:spMkLst>
        </pc:spChg>
      </pc:sldChg>
      <pc:sldChg chg="addSp new mod">
        <pc:chgData name="Pavithra Yuvaraj" userId="c9a9934f14c5a20d" providerId="LiveId" clId="{9D138E8F-448E-4B68-9B20-929C3F7066AC}" dt="2025-12-15T13:03:33.515" v="7" actId="22"/>
        <pc:sldMkLst>
          <pc:docMk/>
          <pc:sldMk cId="2057140263" sldId="320"/>
        </pc:sldMkLst>
        <pc:spChg chg="add">
          <ac:chgData name="Pavithra Yuvaraj" userId="c9a9934f14c5a20d" providerId="LiveId" clId="{9D138E8F-448E-4B68-9B20-929C3F7066AC}" dt="2025-12-15T13:03:33.515" v="7" actId="22"/>
          <ac:spMkLst>
            <pc:docMk/>
            <pc:sldMk cId="2057140263" sldId="320"/>
            <ac:spMk id="3" creationId="{1EF6CDA8-B134-00B5-E2C6-3C1CE94EF70E}"/>
          </ac:spMkLst>
        </pc:spChg>
      </pc:sldChg>
      <pc:sldChg chg="addSp new mod">
        <pc:chgData name="Pavithra Yuvaraj" userId="c9a9934f14c5a20d" providerId="LiveId" clId="{9D138E8F-448E-4B68-9B20-929C3F7066AC}" dt="2025-12-15T13:03:51.542" v="9" actId="22"/>
        <pc:sldMkLst>
          <pc:docMk/>
          <pc:sldMk cId="729637378" sldId="321"/>
        </pc:sldMkLst>
        <pc:spChg chg="add">
          <ac:chgData name="Pavithra Yuvaraj" userId="c9a9934f14c5a20d" providerId="LiveId" clId="{9D138E8F-448E-4B68-9B20-929C3F7066AC}" dt="2025-12-15T13:03:51.542" v="9" actId="22"/>
          <ac:spMkLst>
            <pc:docMk/>
            <pc:sldMk cId="729637378" sldId="321"/>
            <ac:spMk id="3" creationId="{B0EDF418-4BA2-1763-FBFC-3B216C0CF039}"/>
          </ac:spMkLst>
        </pc:spChg>
      </pc:sldChg>
      <pc:sldChg chg="addSp new mod">
        <pc:chgData name="Pavithra Yuvaraj" userId="c9a9934f14c5a20d" providerId="LiveId" clId="{9D138E8F-448E-4B68-9B20-929C3F7066AC}" dt="2025-12-15T13:04:07.270" v="11" actId="22"/>
        <pc:sldMkLst>
          <pc:docMk/>
          <pc:sldMk cId="3305590562" sldId="322"/>
        </pc:sldMkLst>
        <pc:spChg chg="add">
          <ac:chgData name="Pavithra Yuvaraj" userId="c9a9934f14c5a20d" providerId="LiveId" clId="{9D138E8F-448E-4B68-9B20-929C3F7066AC}" dt="2025-12-15T13:04:07.270" v="11" actId="22"/>
          <ac:spMkLst>
            <pc:docMk/>
            <pc:sldMk cId="3305590562" sldId="322"/>
            <ac:spMk id="3" creationId="{24678572-6F08-6E0B-C4D9-11472C45BA98}"/>
          </ac:spMkLst>
        </pc:spChg>
      </pc:sldChg>
      <pc:sldChg chg="addSp new mod">
        <pc:chgData name="Pavithra Yuvaraj" userId="c9a9934f14c5a20d" providerId="LiveId" clId="{9D138E8F-448E-4B68-9B20-929C3F7066AC}" dt="2025-12-15T13:04:27.074" v="13" actId="22"/>
        <pc:sldMkLst>
          <pc:docMk/>
          <pc:sldMk cId="3567082709" sldId="323"/>
        </pc:sldMkLst>
        <pc:spChg chg="add">
          <ac:chgData name="Pavithra Yuvaraj" userId="c9a9934f14c5a20d" providerId="LiveId" clId="{9D138E8F-448E-4B68-9B20-929C3F7066AC}" dt="2025-12-15T13:04:27.074" v="13" actId="22"/>
          <ac:spMkLst>
            <pc:docMk/>
            <pc:sldMk cId="3567082709" sldId="323"/>
            <ac:spMk id="3" creationId="{99780DE7-EBA3-C8D5-02B5-8C87C122BB5F}"/>
          </ac:spMkLst>
        </pc:spChg>
      </pc:sldChg>
      <pc:sldChg chg="addSp new mod">
        <pc:chgData name="Pavithra Yuvaraj" userId="c9a9934f14c5a20d" providerId="LiveId" clId="{9D138E8F-448E-4B68-9B20-929C3F7066AC}" dt="2025-12-15T13:04:39.348" v="15" actId="22"/>
        <pc:sldMkLst>
          <pc:docMk/>
          <pc:sldMk cId="614976451" sldId="324"/>
        </pc:sldMkLst>
        <pc:spChg chg="add">
          <ac:chgData name="Pavithra Yuvaraj" userId="c9a9934f14c5a20d" providerId="LiveId" clId="{9D138E8F-448E-4B68-9B20-929C3F7066AC}" dt="2025-12-15T13:04:39.348" v="15" actId="22"/>
          <ac:spMkLst>
            <pc:docMk/>
            <pc:sldMk cId="614976451" sldId="324"/>
            <ac:spMk id="3" creationId="{8B25F25C-4C5F-5E54-A442-2313A71CA542}"/>
          </ac:spMkLst>
        </pc:spChg>
      </pc:sldChg>
      <pc:sldChg chg="addSp modSp new mod">
        <pc:chgData name="Pavithra Yuvaraj" userId="c9a9934f14c5a20d" providerId="LiveId" clId="{9D138E8F-448E-4B68-9B20-929C3F7066AC}" dt="2025-12-15T13:06:21.680" v="65" actId="1035"/>
        <pc:sldMkLst>
          <pc:docMk/>
          <pc:sldMk cId="4147552491" sldId="325"/>
        </pc:sldMkLst>
        <pc:spChg chg="add mod">
          <ac:chgData name="Pavithra Yuvaraj" userId="c9a9934f14c5a20d" providerId="LiveId" clId="{9D138E8F-448E-4B68-9B20-929C3F7066AC}" dt="2025-12-15T13:06:21.680" v="65" actId="1035"/>
          <ac:spMkLst>
            <pc:docMk/>
            <pc:sldMk cId="4147552491" sldId="325"/>
            <ac:spMk id="3" creationId="{762CD193-6F46-7559-1D32-75C0859A258C}"/>
          </ac:spMkLst>
        </pc:spChg>
      </pc:sldChg>
      <pc:sldChg chg="addSp new mod">
        <pc:chgData name="Pavithra Yuvaraj" userId="c9a9934f14c5a20d" providerId="LiveId" clId="{9D138E8F-448E-4B68-9B20-929C3F7066AC}" dt="2025-12-15T13:06:45.169" v="67" actId="22"/>
        <pc:sldMkLst>
          <pc:docMk/>
          <pc:sldMk cId="2698770190" sldId="326"/>
        </pc:sldMkLst>
        <pc:spChg chg="add">
          <ac:chgData name="Pavithra Yuvaraj" userId="c9a9934f14c5a20d" providerId="LiveId" clId="{9D138E8F-448E-4B68-9B20-929C3F7066AC}" dt="2025-12-15T13:06:45.169" v="67" actId="22"/>
          <ac:spMkLst>
            <pc:docMk/>
            <pc:sldMk cId="2698770190" sldId="326"/>
            <ac:spMk id="3" creationId="{3283219D-A367-EDDF-7044-C1B89AAFF2BC}"/>
          </ac:spMkLst>
        </pc:spChg>
      </pc:sldChg>
      <pc:sldChg chg="addSp new mod">
        <pc:chgData name="Pavithra Yuvaraj" userId="c9a9934f14c5a20d" providerId="LiveId" clId="{9D138E8F-448E-4B68-9B20-929C3F7066AC}" dt="2025-12-15T13:58:14.310" v="70" actId="22"/>
        <pc:sldMkLst>
          <pc:docMk/>
          <pc:sldMk cId="907949292" sldId="327"/>
        </pc:sldMkLst>
        <pc:spChg chg="add">
          <ac:chgData name="Pavithra Yuvaraj" userId="c9a9934f14c5a20d" providerId="LiveId" clId="{9D138E8F-448E-4B68-9B20-929C3F7066AC}" dt="2025-12-15T13:58:14.310" v="70" actId="22"/>
          <ac:spMkLst>
            <pc:docMk/>
            <pc:sldMk cId="907949292" sldId="327"/>
            <ac:spMk id="3" creationId="{1BBF342D-26AA-F894-1A1C-41AB2348B31E}"/>
          </ac:spMkLst>
        </pc:spChg>
      </pc:sldChg>
      <pc:sldChg chg="addSp new mod">
        <pc:chgData name="Pavithra Yuvaraj" userId="c9a9934f14c5a20d" providerId="LiveId" clId="{9D138E8F-448E-4B68-9B20-929C3F7066AC}" dt="2025-12-15T13:58:26.943" v="72" actId="22"/>
        <pc:sldMkLst>
          <pc:docMk/>
          <pc:sldMk cId="42102754" sldId="328"/>
        </pc:sldMkLst>
        <pc:spChg chg="add">
          <ac:chgData name="Pavithra Yuvaraj" userId="c9a9934f14c5a20d" providerId="LiveId" clId="{9D138E8F-448E-4B68-9B20-929C3F7066AC}" dt="2025-12-15T13:58:26.943" v="72" actId="22"/>
          <ac:spMkLst>
            <pc:docMk/>
            <pc:sldMk cId="42102754" sldId="328"/>
            <ac:spMk id="3" creationId="{D002932D-9B3A-E13A-B2FA-7A82954BCB5F}"/>
          </ac:spMkLst>
        </pc:spChg>
      </pc:sldChg>
      <pc:sldChg chg="addSp new mod">
        <pc:chgData name="Pavithra Yuvaraj" userId="c9a9934f14c5a20d" providerId="LiveId" clId="{9D138E8F-448E-4B68-9B20-929C3F7066AC}" dt="2025-12-15T13:58:38.900" v="74" actId="22"/>
        <pc:sldMkLst>
          <pc:docMk/>
          <pc:sldMk cId="444341321" sldId="329"/>
        </pc:sldMkLst>
        <pc:spChg chg="add">
          <ac:chgData name="Pavithra Yuvaraj" userId="c9a9934f14c5a20d" providerId="LiveId" clId="{9D138E8F-448E-4B68-9B20-929C3F7066AC}" dt="2025-12-15T13:58:38.900" v="74" actId="22"/>
          <ac:spMkLst>
            <pc:docMk/>
            <pc:sldMk cId="444341321" sldId="329"/>
            <ac:spMk id="3" creationId="{C6E4508B-7F01-20A0-B70F-7DFA28463273}"/>
          </ac:spMkLst>
        </pc:spChg>
      </pc:sldChg>
      <pc:sldChg chg="addSp new mod">
        <pc:chgData name="Pavithra Yuvaraj" userId="c9a9934f14c5a20d" providerId="LiveId" clId="{9D138E8F-448E-4B68-9B20-929C3F7066AC}" dt="2025-12-15T13:58:52.251" v="76" actId="22"/>
        <pc:sldMkLst>
          <pc:docMk/>
          <pc:sldMk cId="1755928335" sldId="330"/>
        </pc:sldMkLst>
        <pc:spChg chg="add">
          <ac:chgData name="Pavithra Yuvaraj" userId="c9a9934f14c5a20d" providerId="LiveId" clId="{9D138E8F-448E-4B68-9B20-929C3F7066AC}" dt="2025-12-15T13:58:52.251" v="76" actId="22"/>
          <ac:spMkLst>
            <pc:docMk/>
            <pc:sldMk cId="1755928335" sldId="330"/>
            <ac:spMk id="3" creationId="{B06411B2-6C1A-EEBA-04AF-1D4D8FF618CB}"/>
          </ac:spMkLst>
        </pc:spChg>
      </pc:sldChg>
      <pc:sldChg chg="addSp new mod">
        <pc:chgData name="Pavithra Yuvaraj" userId="c9a9934f14c5a20d" providerId="LiveId" clId="{9D138E8F-448E-4B68-9B20-929C3F7066AC}" dt="2025-12-15T13:59:05.401" v="78" actId="22"/>
        <pc:sldMkLst>
          <pc:docMk/>
          <pc:sldMk cId="2899944763" sldId="331"/>
        </pc:sldMkLst>
        <pc:spChg chg="add">
          <ac:chgData name="Pavithra Yuvaraj" userId="c9a9934f14c5a20d" providerId="LiveId" clId="{9D138E8F-448E-4B68-9B20-929C3F7066AC}" dt="2025-12-15T13:59:05.401" v="78" actId="22"/>
          <ac:spMkLst>
            <pc:docMk/>
            <pc:sldMk cId="2899944763" sldId="331"/>
            <ac:spMk id="3" creationId="{C22DC73C-6F70-BD5C-14A8-ECFFAB757E13}"/>
          </ac:spMkLst>
        </pc:spChg>
      </pc:sldChg>
      <pc:sldChg chg="addSp new mod">
        <pc:chgData name="Pavithra Yuvaraj" userId="c9a9934f14c5a20d" providerId="LiveId" clId="{9D138E8F-448E-4B68-9B20-929C3F7066AC}" dt="2025-12-15T13:59:24.412" v="80" actId="22"/>
        <pc:sldMkLst>
          <pc:docMk/>
          <pc:sldMk cId="129597100" sldId="332"/>
        </pc:sldMkLst>
        <pc:spChg chg="add">
          <ac:chgData name="Pavithra Yuvaraj" userId="c9a9934f14c5a20d" providerId="LiveId" clId="{9D138E8F-448E-4B68-9B20-929C3F7066AC}" dt="2025-12-15T13:59:24.412" v="80" actId="22"/>
          <ac:spMkLst>
            <pc:docMk/>
            <pc:sldMk cId="129597100" sldId="332"/>
            <ac:spMk id="3" creationId="{C9E36911-E74A-577C-D931-C3271995CEEB}"/>
          </ac:spMkLst>
        </pc:spChg>
      </pc:sldChg>
      <pc:sldChg chg="addSp new mod">
        <pc:chgData name="Pavithra Yuvaraj" userId="c9a9934f14c5a20d" providerId="LiveId" clId="{9D138E8F-448E-4B68-9B20-929C3F7066AC}" dt="2025-12-15T13:59:47.516" v="82" actId="22"/>
        <pc:sldMkLst>
          <pc:docMk/>
          <pc:sldMk cId="1601210091" sldId="333"/>
        </pc:sldMkLst>
        <pc:spChg chg="add">
          <ac:chgData name="Pavithra Yuvaraj" userId="c9a9934f14c5a20d" providerId="LiveId" clId="{9D138E8F-448E-4B68-9B20-929C3F7066AC}" dt="2025-12-15T13:59:47.516" v="82" actId="22"/>
          <ac:spMkLst>
            <pc:docMk/>
            <pc:sldMk cId="1601210091" sldId="333"/>
            <ac:spMk id="3" creationId="{13860EC8-4164-C9D9-C7AA-2DC324FEFED4}"/>
          </ac:spMkLst>
        </pc:spChg>
      </pc:sldChg>
      <pc:sldChg chg="addSp new mod">
        <pc:chgData name="Pavithra Yuvaraj" userId="c9a9934f14c5a20d" providerId="LiveId" clId="{9D138E8F-448E-4B68-9B20-929C3F7066AC}" dt="2025-12-15T13:59:59.479" v="84" actId="22"/>
        <pc:sldMkLst>
          <pc:docMk/>
          <pc:sldMk cId="4190674614" sldId="334"/>
        </pc:sldMkLst>
        <pc:spChg chg="add">
          <ac:chgData name="Pavithra Yuvaraj" userId="c9a9934f14c5a20d" providerId="LiveId" clId="{9D138E8F-448E-4B68-9B20-929C3F7066AC}" dt="2025-12-15T13:59:59.479" v="84" actId="22"/>
          <ac:spMkLst>
            <pc:docMk/>
            <pc:sldMk cId="4190674614" sldId="334"/>
            <ac:spMk id="3" creationId="{8BAFC6CB-A4FE-E7C6-75DA-83B552F9E709}"/>
          </ac:spMkLst>
        </pc:spChg>
      </pc:sldChg>
      <pc:sldChg chg="addSp new mod">
        <pc:chgData name="Pavithra Yuvaraj" userId="c9a9934f14c5a20d" providerId="LiveId" clId="{9D138E8F-448E-4B68-9B20-929C3F7066AC}" dt="2025-12-15T16:08:18.203" v="86" actId="22"/>
        <pc:sldMkLst>
          <pc:docMk/>
          <pc:sldMk cId="1164484386" sldId="335"/>
        </pc:sldMkLst>
        <pc:spChg chg="add">
          <ac:chgData name="Pavithra Yuvaraj" userId="c9a9934f14c5a20d" providerId="LiveId" clId="{9D138E8F-448E-4B68-9B20-929C3F7066AC}" dt="2025-12-15T16:08:18.203" v="86" actId="22"/>
          <ac:spMkLst>
            <pc:docMk/>
            <pc:sldMk cId="1164484386" sldId="335"/>
            <ac:spMk id="3" creationId="{DEF849F5-BDDD-41DA-D8E9-61B226452FEC}"/>
          </ac:spMkLst>
        </pc:spChg>
      </pc:sldChg>
      <pc:sldChg chg="addSp new mod">
        <pc:chgData name="Pavithra Yuvaraj" userId="c9a9934f14c5a20d" providerId="LiveId" clId="{9D138E8F-448E-4B68-9B20-929C3F7066AC}" dt="2025-12-15T16:08:29.782" v="88" actId="22"/>
        <pc:sldMkLst>
          <pc:docMk/>
          <pc:sldMk cId="1995393891" sldId="336"/>
        </pc:sldMkLst>
        <pc:spChg chg="add">
          <ac:chgData name="Pavithra Yuvaraj" userId="c9a9934f14c5a20d" providerId="LiveId" clId="{9D138E8F-448E-4B68-9B20-929C3F7066AC}" dt="2025-12-15T16:08:29.782" v="88" actId="22"/>
          <ac:spMkLst>
            <pc:docMk/>
            <pc:sldMk cId="1995393891" sldId="336"/>
            <ac:spMk id="3" creationId="{61282E09-82C8-91CE-1E9D-E8952F99A7B3}"/>
          </ac:spMkLst>
        </pc:spChg>
      </pc:sldChg>
      <pc:sldChg chg="addSp modSp new mod">
        <pc:chgData name="Pavithra Yuvaraj" userId="c9a9934f14c5a20d" providerId="LiveId" clId="{9D138E8F-448E-4B68-9B20-929C3F7066AC}" dt="2025-12-15T16:10:45.762" v="118" actId="20577"/>
        <pc:sldMkLst>
          <pc:docMk/>
          <pc:sldMk cId="75232175" sldId="337"/>
        </pc:sldMkLst>
        <pc:spChg chg="add mod">
          <ac:chgData name="Pavithra Yuvaraj" userId="c9a9934f14c5a20d" providerId="LiveId" clId="{9D138E8F-448E-4B68-9B20-929C3F7066AC}" dt="2025-12-15T16:10:45.762" v="118" actId="20577"/>
          <ac:spMkLst>
            <pc:docMk/>
            <pc:sldMk cId="75232175" sldId="337"/>
            <ac:spMk id="3" creationId="{32A3313B-435A-2735-B132-7645F21BCD26}"/>
          </ac:spMkLst>
        </pc:spChg>
      </pc:sldChg>
      <pc:sldChg chg="addSp modSp new mod">
        <pc:chgData name="Pavithra Yuvaraj" userId="c9a9934f14c5a20d" providerId="LiveId" clId="{9D138E8F-448E-4B68-9B20-929C3F7066AC}" dt="2025-12-15T16:10:50.814" v="123" actId="20577"/>
        <pc:sldMkLst>
          <pc:docMk/>
          <pc:sldMk cId="2957166841" sldId="338"/>
        </pc:sldMkLst>
        <pc:spChg chg="add mod">
          <ac:chgData name="Pavithra Yuvaraj" userId="c9a9934f14c5a20d" providerId="LiveId" clId="{9D138E8F-448E-4B68-9B20-929C3F7066AC}" dt="2025-12-15T16:10:50.814" v="123" actId="20577"/>
          <ac:spMkLst>
            <pc:docMk/>
            <pc:sldMk cId="2957166841" sldId="338"/>
            <ac:spMk id="3" creationId="{F02860E1-7B15-0B89-7B65-0FEDB34C6852}"/>
          </ac:spMkLst>
        </pc:spChg>
      </pc:sldChg>
      <pc:sldChg chg="addSp modSp new mod">
        <pc:chgData name="Pavithra Yuvaraj" userId="c9a9934f14c5a20d" providerId="LiveId" clId="{9D138E8F-448E-4B68-9B20-929C3F7066AC}" dt="2025-12-15T16:10:27.043" v="113" actId="20577"/>
        <pc:sldMkLst>
          <pc:docMk/>
          <pc:sldMk cId="2618090983" sldId="339"/>
        </pc:sldMkLst>
        <pc:spChg chg="add mod">
          <ac:chgData name="Pavithra Yuvaraj" userId="c9a9934f14c5a20d" providerId="LiveId" clId="{9D138E8F-448E-4B68-9B20-929C3F7066AC}" dt="2025-12-15T16:10:27.043" v="113" actId="20577"/>
          <ac:spMkLst>
            <pc:docMk/>
            <pc:sldMk cId="2618090983" sldId="339"/>
            <ac:spMk id="3" creationId="{25F5895B-D99C-4943-C79A-C226E5AC22D1}"/>
          </ac:spMkLst>
        </pc:spChg>
      </pc:sldChg>
      <pc:sldChg chg="addSp modSp new mod">
        <pc:chgData name="Pavithra Yuvaraj" userId="c9a9934f14c5a20d" providerId="LiveId" clId="{9D138E8F-448E-4B68-9B20-929C3F7066AC}" dt="2025-12-15T16:10:21.318" v="108" actId="20577"/>
        <pc:sldMkLst>
          <pc:docMk/>
          <pc:sldMk cId="1232973610" sldId="340"/>
        </pc:sldMkLst>
        <pc:spChg chg="add mod">
          <ac:chgData name="Pavithra Yuvaraj" userId="c9a9934f14c5a20d" providerId="LiveId" clId="{9D138E8F-448E-4B68-9B20-929C3F7066AC}" dt="2025-12-15T16:10:21.318" v="108" actId="20577"/>
          <ac:spMkLst>
            <pc:docMk/>
            <pc:sldMk cId="1232973610" sldId="340"/>
            <ac:spMk id="3" creationId="{AA79E3D0-726C-1D87-6629-2A7689DDCCAE}"/>
          </ac:spMkLst>
        </pc:spChg>
      </pc:sldChg>
      <pc:sldChg chg="addSp modSp new mod">
        <pc:chgData name="Pavithra Yuvaraj" userId="c9a9934f14c5a20d" providerId="LiveId" clId="{9D138E8F-448E-4B68-9B20-929C3F7066AC}" dt="2025-12-15T16:10:15.710" v="103" actId="20577"/>
        <pc:sldMkLst>
          <pc:docMk/>
          <pc:sldMk cId="3696051188" sldId="341"/>
        </pc:sldMkLst>
        <pc:spChg chg="add mod">
          <ac:chgData name="Pavithra Yuvaraj" userId="c9a9934f14c5a20d" providerId="LiveId" clId="{9D138E8F-448E-4B68-9B20-929C3F7066AC}" dt="2025-12-15T16:10:15.710" v="103" actId="20577"/>
          <ac:spMkLst>
            <pc:docMk/>
            <pc:sldMk cId="3696051188" sldId="341"/>
            <ac:spMk id="3" creationId="{037402C2-03C4-36F3-D610-C693ADCACEF7}"/>
          </ac:spMkLst>
        </pc:spChg>
      </pc:sldChg>
      <pc:sldChg chg="addSp new mod">
        <pc:chgData name="Pavithra Yuvaraj" userId="c9a9934f14c5a20d" providerId="LiveId" clId="{9D138E8F-448E-4B68-9B20-929C3F7066AC}" dt="2025-12-15T16:11:42.950" v="125" actId="22"/>
        <pc:sldMkLst>
          <pc:docMk/>
          <pc:sldMk cId="1730093277" sldId="342"/>
        </pc:sldMkLst>
        <pc:spChg chg="add">
          <ac:chgData name="Pavithra Yuvaraj" userId="c9a9934f14c5a20d" providerId="LiveId" clId="{9D138E8F-448E-4B68-9B20-929C3F7066AC}" dt="2025-12-15T16:11:42.950" v="125" actId="22"/>
          <ac:spMkLst>
            <pc:docMk/>
            <pc:sldMk cId="1730093277" sldId="342"/>
            <ac:spMk id="3" creationId="{02B796DD-96CF-6A72-1AB4-6A45B6B05675}"/>
          </ac:spMkLst>
        </pc:spChg>
      </pc:sldChg>
      <pc:sldChg chg="addSp new mod">
        <pc:chgData name="Pavithra Yuvaraj" userId="c9a9934f14c5a20d" providerId="LiveId" clId="{9D138E8F-448E-4B68-9B20-929C3F7066AC}" dt="2025-12-15T16:12:24.575" v="127" actId="22"/>
        <pc:sldMkLst>
          <pc:docMk/>
          <pc:sldMk cId="556465777" sldId="343"/>
        </pc:sldMkLst>
        <pc:spChg chg="add">
          <ac:chgData name="Pavithra Yuvaraj" userId="c9a9934f14c5a20d" providerId="LiveId" clId="{9D138E8F-448E-4B68-9B20-929C3F7066AC}" dt="2025-12-15T16:12:24.575" v="127" actId="22"/>
          <ac:spMkLst>
            <pc:docMk/>
            <pc:sldMk cId="556465777" sldId="343"/>
            <ac:spMk id="3" creationId="{949B823B-583E-A3D4-699F-0EB6AF6D1C7D}"/>
          </ac:spMkLst>
        </pc:spChg>
      </pc:sldChg>
      <pc:sldChg chg="addSp new mod">
        <pc:chgData name="Pavithra Yuvaraj" userId="c9a9934f14c5a20d" providerId="LiveId" clId="{9D138E8F-448E-4B68-9B20-929C3F7066AC}" dt="2025-12-15T16:12:35.799" v="129" actId="22"/>
        <pc:sldMkLst>
          <pc:docMk/>
          <pc:sldMk cId="2172677220" sldId="344"/>
        </pc:sldMkLst>
        <pc:spChg chg="add">
          <ac:chgData name="Pavithra Yuvaraj" userId="c9a9934f14c5a20d" providerId="LiveId" clId="{9D138E8F-448E-4B68-9B20-929C3F7066AC}" dt="2025-12-15T16:12:35.799" v="129" actId="22"/>
          <ac:spMkLst>
            <pc:docMk/>
            <pc:sldMk cId="2172677220" sldId="344"/>
            <ac:spMk id="3" creationId="{26FDABA8-10E0-274E-66ED-F0199C133CBC}"/>
          </ac:spMkLst>
        </pc:spChg>
      </pc:sldChg>
      <pc:sldChg chg="addSp new mod">
        <pc:chgData name="Pavithra Yuvaraj" userId="c9a9934f14c5a20d" providerId="LiveId" clId="{9D138E8F-448E-4B68-9B20-929C3F7066AC}" dt="2025-12-15T16:12:52.451" v="131" actId="22"/>
        <pc:sldMkLst>
          <pc:docMk/>
          <pc:sldMk cId="686393134" sldId="345"/>
        </pc:sldMkLst>
        <pc:spChg chg="add">
          <ac:chgData name="Pavithra Yuvaraj" userId="c9a9934f14c5a20d" providerId="LiveId" clId="{9D138E8F-448E-4B68-9B20-929C3F7066AC}" dt="2025-12-15T16:12:52.451" v="131" actId="22"/>
          <ac:spMkLst>
            <pc:docMk/>
            <pc:sldMk cId="686393134" sldId="345"/>
            <ac:spMk id="3" creationId="{A2680F38-7039-9502-5413-237CE22941F5}"/>
          </ac:spMkLst>
        </pc:spChg>
      </pc:sldChg>
      <pc:sldChg chg="addSp new mod">
        <pc:chgData name="Pavithra Yuvaraj" userId="c9a9934f14c5a20d" providerId="LiveId" clId="{9D138E8F-448E-4B68-9B20-929C3F7066AC}" dt="2025-12-15T16:13:07.870" v="133" actId="22"/>
        <pc:sldMkLst>
          <pc:docMk/>
          <pc:sldMk cId="2123563126" sldId="346"/>
        </pc:sldMkLst>
        <pc:spChg chg="add">
          <ac:chgData name="Pavithra Yuvaraj" userId="c9a9934f14c5a20d" providerId="LiveId" clId="{9D138E8F-448E-4B68-9B20-929C3F7066AC}" dt="2025-12-15T16:13:07.870" v="133" actId="22"/>
          <ac:spMkLst>
            <pc:docMk/>
            <pc:sldMk cId="2123563126" sldId="346"/>
            <ac:spMk id="3" creationId="{50415399-151C-C22F-D731-8DFCED4B92F5}"/>
          </ac:spMkLst>
        </pc:spChg>
      </pc:sldChg>
      <pc:sldChg chg="addSp new mod">
        <pc:chgData name="Pavithra Yuvaraj" userId="c9a9934f14c5a20d" providerId="LiveId" clId="{9D138E8F-448E-4B68-9B20-929C3F7066AC}" dt="2025-12-15T16:13:27.454" v="135" actId="22"/>
        <pc:sldMkLst>
          <pc:docMk/>
          <pc:sldMk cId="1832643310" sldId="347"/>
        </pc:sldMkLst>
        <pc:spChg chg="add">
          <ac:chgData name="Pavithra Yuvaraj" userId="c9a9934f14c5a20d" providerId="LiveId" clId="{9D138E8F-448E-4B68-9B20-929C3F7066AC}" dt="2025-12-15T16:13:27.454" v="135" actId="22"/>
          <ac:spMkLst>
            <pc:docMk/>
            <pc:sldMk cId="1832643310" sldId="347"/>
            <ac:spMk id="3" creationId="{5656586B-423E-D0CA-EF1F-E940DF40F018}"/>
          </ac:spMkLst>
        </pc:spChg>
      </pc:sldChg>
      <pc:sldChg chg="addSp new mod">
        <pc:chgData name="Pavithra Yuvaraj" userId="c9a9934f14c5a20d" providerId="LiveId" clId="{9D138E8F-448E-4B68-9B20-929C3F7066AC}" dt="2025-12-15T16:13:37.258" v="137" actId="22"/>
        <pc:sldMkLst>
          <pc:docMk/>
          <pc:sldMk cId="4119718924" sldId="348"/>
        </pc:sldMkLst>
        <pc:spChg chg="add">
          <ac:chgData name="Pavithra Yuvaraj" userId="c9a9934f14c5a20d" providerId="LiveId" clId="{9D138E8F-448E-4B68-9B20-929C3F7066AC}" dt="2025-12-15T16:13:37.258" v="137" actId="22"/>
          <ac:spMkLst>
            <pc:docMk/>
            <pc:sldMk cId="4119718924" sldId="348"/>
            <ac:spMk id="3" creationId="{05BFED5A-4C7C-66DC-1F9F-86C75F4FF4E3}"/>
          </ac:spMkLst>
        </pc:spChg>
      </pc:sldChg>
      <pc:sldChg chg="addSp new mod">
        <pc:chgData name="Pavithra Yuvaraj" userId="c9a9934f14c5a20d" providerId="LiveId" clId="{9D138E8F-448E-4B68-9B20-929C3F7066AC}" dt="2025-12-15T16:14:15.718" v="139" actId="22"/>
        <pc:sldMkLst>
          <pc:docMk/>
          <pc:sldMk cId="2564361148" sldId="349"/>
        </pc:sldMkLst>
        <pc:spChg chg="add">
          <ac:chgData name="Pavithra Yuvaraj" userId="c9a9934f14c5a20d" providerId="LiveId" clId="{9D138E8F-448E-4B68-9B20-929C3F7066AC}" dt="2025-12-15T16:14:15.718" v="139" actId="22"/>
          <ac:spMkLst>
            <pc:docMk/>
            <pc:sldMk cId="2564361148" sldId="349"/>
            <ac:spMk id="3" creationId="{58922E14-A06F-4090-74E8-4E3C62301403}"/>
          </ac:spMkLst>
        </pc:spChg>
      </pc:sldChg>
      <pc:sldChg chg="addSp new mod">
        <pc:chgData name="Pavithra Yuvaraj" userId="c9a9934f14c5a20d" providerId="LiveId" clId="{9D138E8F-448E-4B68-9B20-929C3F7066AC}" dt="2025-12-15T16:14:28.321" v="141" actId="22"/>
        <pc:sldMkLst>
          <pc:docMk/>
          <pc:sldMk cId="517372444" sldId="350"/>
        </pc:sldMkLst>
        <pc:spChg chg="add">
          <ac:chgData name="Pavithra Yuvaraj" userId="c9a9934f14c5a20d" providerId="LiveId" clId="{9D138E8F-448E-4B68-9B20-929C3F7066AC}" dt="2025-12-15T16:14:28.321" v="141" actId="22"/>
          <ac:spMkLst>
            <pc:docMk/>
            <pc:sldMk cId="517372444" sldId="350"/>
            <ac:spMk id="3" creationId="{B2AF9516-5A72-5697-C36C-6B5E227D8D12}"/>
          </ac:spMkLst>
        </pc:spChg>
      </pc:sldChg>
      <pc:sldChg chg="addSp new mod">
        <pc:chgData name="Pavithra Yuvaraj" userId="c9a9934f14c5a20d" providerId="LiveId" clId="{9D138E8F-448E-4B68-9B20-929C3F7066AC}" dt="2025-12-15T16:14:42.256" v="143" actId="22"/>
        <pc:sldMkLst>
          <pc:docMk/>
          <pc:sldMk cId="897349159" sldId="351"/>
        </pc:sldMkLst>
        <pc:spChg chg="add">
          <ac:chgData name="Pavithra Yuvaraj" userId="c9a9934f14c5a20d" providerId="LiveId" clId="{9D138E8F-448E-4B68-9B20-929C3F7066AC}" dt="2025-12-15T16:14:42.256" v="143" actId="22"/>
          <ac:spMkLst>
            <pc:docMk/>
            <pc:sldMk cId="897349159" sldId="351"/>
            <ac:spMk id="3" creationId="{BEDA17DA-184B-1B8D-E467-FCE75C4D7D7F}"/>
          </ac:spMkLst>
        </pc:spChg>
      </pc:sldChg>
      <pc:sldChg chg="addSp new mod">
        <pc:chgData name="Pavithra Yuvaraj" userId="c9a9934f14c5a20d" providerId="LiveId" clId="{9D138E8F-448E-4B68-9B20-929C3F7066AC}" dt="2025-12-15T16:14:59.071" v="145" actId="22"/>
        <pc:sldMkLst>
          <pc:docMk/>
          <pc:sldMk cId="2778086206" sldId="352"/>
        </pc:sldMkLst>
        <pc:spChg chg="add">
          <ac:chgData name="Pavithra Yuvaraj" userId="c9a9934f14c5a20d" providerId="LiveId" clId="{9D138E8F-448E-4B68-9B20-929C3F7066AC}" dt="2025-12-15T16:14:59.071" v="145" actId="22"/>
          <ac:spMkLst>
            <pc:docMk/>
            <pc:sldMk cId="2778086206" sldId="352"/>
            <ac:spMk id="3" creationId="{42512E82-D5E7-6C2E-52A8-03E2F2008B5B}"/>
          </ac:spMkLst>
        </pc:spChg>
      </pc:sldChg>
      <pc:sldChg chg="addSp new mod">
        <pc:chgData name="Pavithra Yuvaraj" userId="c9a9934f14c5a20d" providerId="LiveId" clId="{9D138E8F-448E-4B68-9B20-929C3F7066AC}" dt="2025-12-15T16:15:09.434" v="147" actId="22"/>
        <pc:sldMkLst>
          <pc:docMk/>
          <pc:sldMk cId="1738166764" sldId="353"/>
        </pc:sldMkLst>
        <pc:spChg chg="add">
          <ac:chgData name="Pavithra Yuvaraj" userId="c9a9934f14c5a20d" providerId="LiveId" clId="{9D138E8F-448E-4B68-9B20-929C3F7066AC}" dt="2025-12-15T16:15:09.434" v="147" actId="22"/>
          <ac:spMkLst>
            <pc:docMk/>
            <pc:sldMk cId="1738166764" sldId="353"/>
            <ac:spMk id="3" creationId="{D8EA2D2B-D07D-2C71-D942-B8074791C6C7}"/>
          </ac:spMkLst>
        </pc:spChg>
      </pc:sldChg>
      <pc:sldChg chg="addSp new mod">
        <pc:chgData name="Pavithra Yuvaraj" userId="c9a9934f14c5a20d" providerId="LiveId" clId="{9D138E8F-448E-4B68-9B20-929C3F7066AC}" dt="2025-12-15T16:15:24.379" v="149" actId="22"/>
        <pc:sldMkLst>
          <pc:docMk/>
          <pc:sldMk cId="416302005" sldId="354"/>
        </pc:sldMkLst>
        <pc:spChg chg="add">
          <ac:chgData name="Pavithra Yuvaraj" userId="c9a9934f14c5a20d" providerId="LiveId" clId="{9D138E8F-448E-4B68-9B20-929C3F7066AC}" dt="2025-12-15T16:15:24.379" v="149" actId="22"/>
          <ac:spMkLst>
            <pc:docMk/>
            <pc:sldMk cId="416302005" sldId="354"/>
            <ac:spMk id="3" creationId="{D4ECB1A3-473D-821F-5A33-B1AA657D46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93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168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3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18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71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590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0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879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568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97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1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581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89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08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587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864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F04796-1286-4FB4-8632-948C093BB4C6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356C47B-2082-44DA-96D0-BB83A0C4A5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91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C9FF7-373F-801F-F6DC-E20ACC80B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MILESTONE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AD821-CBE6-22D3-2C38-7ED70B827E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JOB ROLE PREDICTION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561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50E154-87DE-7D91-7070-D7855A1AB49A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1 – Introduction to Job Role Prediction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Job Role Prediction?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ML is needed to map education → job roles.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vs Output design flow.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Overview of ML pipeline for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34874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3E1E42-3F75-FD26-F711-6A561E1D9940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📅 Day 1 — Introduction to Job Role Prediction Module</a:t>
            </a:r>
          </a:p>
          <a:p>
            <a:pPr>
              <a:buNone/>
            </a:pPr>
            <a:r>
              <a:rPr lang="en-US" b="1" dirty="0"/>
              <a:t>🎯 Objective of Day 1</a:t>
            </a:r>
          </a:p>
          <a:p>
            <a:pPr>
              <a:buNone/>
            </a:pPr>
            <a:r>
              <a:rPr lang="en-US" dirty="0"/>
              <a:t>To give students a clear understanding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a Job Role Prediction model does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ML is used for mapping education → suitable career paths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we will build in Milestone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input will flow into the ML model and how output will look</a:t>
            </a:r>
          </a:p>
        </p:txBody>
      </p:sp>
    </p:spTree>
    <p:extLst>
      <p:ext uri="{BB962C8B-B14F-4D97-AF65-F5344CB8AC3E}">
        <p14:creationId xmlns:p14="http://schemas.microsoft.com/office/powerpoint/2010/main" val="324913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64774-71A9-B433-0E2A-9B059EE1B97A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Until now, you designed input forms, collected education details, and prepared preprocessing logic. </a:t>
            </a:r>
            <a:r>
              <a:rPr lang="en-US" b="1" dirty="0"/>
              <a:t>Now we are moving into the main ML part – prediction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In real-world job selection, people struggle to decide which job fits their degree or skills.</a:t>
            </a:r>
            <a:br>
              <a:rPr lang="en-US" dirty="0"/>
            </a:br>
            <a:r>
              <a:rPr lang="en-US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973336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142C23-7223-7F35-70A9-53B12FB5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2176287"/>
            <a:ext cx="8507012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3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6D2A2-523D-35B2-8B7C-5F2BDBD1CA6E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goal is to </a:t>
            </a:r>
            <a:r>
              <a:rPr lang="en-US" b="1" dirty="0"/>
              <a:t>train a machine learning model</a:t>
            </a:r>
            <a:r>
              <a:rPr lang="en-US" dirty="0"/>
              <a:t> that can analyze educational background and predict the most suitable job roles.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5565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98638-32C9-7BD8-225A-FF3218DE1C59}"/>
              </a:ext>
            </a:extLst>
          </p:cNvPr>
          <p:cNvSpPr txBox="1"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📍 Key Points to Explain in Class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What is Job Role Prediction?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ML model takes education details as input.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Returns 3–5 best career roles with probabilities.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Why ML is suitable?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Patterns between education and job are not straightforward.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Machine learns from data to find relationships.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Pipeline for Milestone 3:</a:t>
            </a:r>
            <a:endParaRPr lang="en-US" dirty="0"/>
          </a:p>
          <a:p>
            <a:pPr rtl="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Collect Education Input → Preprocess Data → Train ML Model </a:t>
            </a:r>
          </a:p>
          <a:p>
            <a:pPr rtl="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→ Predict Job Roles → Convert into Top Career Suggestions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Students should visualize the end goal clearly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At the end of Milestone 3, user will enter: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Degree, Specialization, CGPA, Certifications → Output: Top Job Roles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24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015E59-281A-27B7-1D17-7C12F032A50A}"/>
              </a:ext>
            </a:extLst>
          </p:cNvPr>
          <p:cNvSpPr txBox="1"/>
          <p:nvPr/>
        </p:nvSpPr>
        <p:spPr>
          <a:xfrm>
            <a:off x="3048000" y="889844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🧪 Hands-On Activity for Day 1</a:t>
            </a:r>
          </a:p>
          <a:p>
            <a:pPr>
              <a:buNone/>
            </a:pPr>
            <a:r>
              <a:rPr lang="en-IN" dirty="0"/>
              <a:t>Students must create the </a:t>
            </a:r>
            <a:r>
              <a:rPr lang="en-IN" b="1" dirty="0"/>
              <a:t>project structure</a:t>
            </a:r>
            <a:r>
              <a:rPr lang="en-IN" dirty="0"/>
              <a:t> to prepare coding in upcoming sessions.</a:t>
            </a:r>
          </a:p>
          <a:p>
            <a:pPr>
              <a:buNone/>
            </a:pPr>
            <a:r>
              <a:rPr lang="en-IN" dirty="0"/>
              <a:t>📁 Project Folder Structure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Milestone3_JobPrediction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│── dataset/               # dataset for training model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│── model/                 # trained model will be saved later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│── preprocessing/         # encoding &amp; cleaning scripts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│── training/              # ML model training notebook/</a:t>
            </a:r>
            <a:r>
              <a:rPr lang="en-IN" dirty="0" err="1">
                <a:latin typeface="Courier New" panose="02070309020205020404" pitchFamily="49" charset="0"/>
              </a:rPr>
              <a:t>py</a:t>
            </a:r>
            <a:r>
              <a:rPr lang="en-IN" dirty="0">
                <a:latin typeface="Courier New" panose="02070309020205020404" pitchFamily="49" charset="0"/>
              </a:rPr>
              <a:t> file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│── backend/               # API development later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│── frontend/              # UI for showing output later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70967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517787-4145-B774-3B4D-A9A3D03D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952154"/>
            <a:ext cx="10136015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72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00C114-630F-7374-4A24-10058D7DC9B8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Submission Format</a:t>
            </a:r>
          </a:p>
          <a:p>
            <a:pPr>
              <a:buNone/>
            </a:pPr>
            <a:r>
              <a:rPr lang="en-US" dirty="0"/>
              <a:t>📄 Google Doc / Word file</a:t>
            </a:r>
            <a:br>
              <a:rPr lang="en-US" dirty="0"/>
            </a:br>
            <a:r>
              <a:rPr lang="en-US" dirty="0"/>
              <a:t>📁 Screenshot of created project folder</a:t>
            </a:r>
          </a:p>
        </p:txBody>
      </p:sp>
    </p:spTree>
    <p:extLst>
      <p:ext uri="{BB962C8B-B14F-4D97-AF65-F5344CB8AC3E}">
        <p14:creationId xmlns:p14="http://schemas.microsoft.com/office/powerpoint/2010/main" val="1111190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A7F9B3-5ADA-22D3-EECB-976F7E41681F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By end of DAY 1, students must understand:</a:t>
            </a:r>
          </a:p>
          <a:p>
            <a:pPr>
              <a:buNone/>
            </a:pPr>
            <a:r>
              <a:rPr lang="en-US" dirty="0"/>
              <a:t>✓ What this milestone is about</a:t>
            </a:r>
            <a:br>
              <a:rPr lang="en-US" dirty="0"/>
            </a:br>
            <a:r>
              <a:rPr lang="en-US" dirty="0"/>
              <a:t>✓ What will be predicted</a:t>
            </a:r>
            <a:br>
              <a:rPr lang="en-US" dirty="0"/>
            </a:br>
            <a:r>
              <a:rPr lang="en-US" dirty="0"/>
              <a:t>✓ How input → output workflow happens</a:t>
            </a:r>
            <a:br>
              <a:rPr lang="en-US" dirty="0"/>
            </a:br>
            <a:r>
              <a:rPr lang="en-US" dirty="0"/>
              <a:t>✓ Folder structure ready + task submitted</a:t>
            </a:r>
          </a:p>
        </p:txBody>
      </p:sp>
    </p:spTree>
    <p:extLst>
      <p:ext uri="{BB962C8B-B14F-4D97-AF65-F5344CB8AC3E}">
        <p14:creationId xmlns:p14="http://schemas.microsoft.com/office/powerpoint/2010/main" val="498431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9D08C-D45E-82FE-4EFA-4A7ED80D02AA}"/>
              </a:ext>
            </a:extLst>
          </p:cNvPr>
          <p:cNvSpPr txBox="1"/>
          <p:nvPr/>
        </p:nvSpPr>
        <p:spPr>
          <a:xfrm>
            <a:off x="3048000" y="2466928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2 – Understanding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Columns &amp; meaning: degree, specialization, CGPA, certifications,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Target variable = job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Identify categorical &amp; numerical fields.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Basic Exploratory Data Analysis.</a:t>
            </a:r>
          </a:p>
        </p:txBody>
      </p:sp>
    </p:spTree>
    <p:extLst>
      <p:ext uri="{BB962C8B-B14F-4D97-AF65-F5344CB8AC3E}">
        <p14:creationId xmlns:p14="http://schemas.microsoft.com/office/powerpoint/2010/main" val="3669293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211171-DA86-8AE4-F7E3-ED232F677B77}"/>
              </a:ext>
            </a:extLst>
          </p:cNvPr>
          <p:cNvSpPr txBox="1"/>
          <p:nvPr/>
        </p:nvSpPr>
        <p:spPr>
          <a:xfrm>
            <a:off x="3048000" y="28310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 Day 2, students focus on exploring the dataset used for </a:t>
            </a:r>
            <a:r>
              <a:rPr lang="en-US" b="1" dirty="0"/>
              <a:t>Job Role Prediction</a:t>
            </a:r>
            <a:r>
              <a:rPr lang="en-US" dirty="0"/>
              <a:t>. Before building any ML model, you must understand </a:t>
            </a:r>
            <a:r>
              <a:rPr lang="en-US" b="1" dirty="0"/>
              <a:t>what data you have, what it means, and how to analyze it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707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28FAE-C80C-D2E8-AE5E-1CFD1A6A00AC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is a Dataset? (Simple Explanation)</a:t>
            </a:r>
          </a:p>
          <a:p>
            <a:pPr>
              <a:buNone/>
            </a:pPr>
            <a:r>
              <a:rPr lang="en-US" dirty="0"/>
              <a:t>A dataset is a collection of rows and columns — like an Excel sheet.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Each row = 1 student's profile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Each column = a feature</a:t>
            </a:r>
            <a:r>
              <a:rPr lang="en-US" dirty="0"/>
              <a:t> (degree, specialization, CGPA, certifications,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Target column = job role</a:t>
            </a:r>
            <a:r>
              <a:rPr lang="en-US" dirty="0"/>
              <a:t> (The output we want the model to predict)</a:t>
            </a:r>
          </a:p>
          <a:p>
            <a:pPr>
              <a:buNone/>
            </a:pPr>
            <a:r>
              <a:rPr lang="en-US" dirty="0"/>
              <a:t>This understanding is the foundation for model building.</a:t>
            </a:r>
          </a:p>
        </p:txBody>
      </p:sp>
    </p:spTree>
    <p:extLst>
      <p:ext uri="{BB962C8B-B14F-4D97-AF65-F5344CB8AC3E}">
        <p14:creationId xmlns:p14="http://schemas.microsoft.com/office/powerpoint/2010/main" val="1322907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B665BC-5D5E-FEE7-66C3-4F35CE2A5AE8}"/>
              </a:ext>
            </a:extLst>
          </p:cNvPr>
          <p:cNvSpPr txBox="1"/>
          <p:nvPr/>
        </p:nvSpPr>
        <p:spPr>
          <a:xfrm>
            <a:off x="3048000" y="296951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Columns in the Dataset &amp; Their Meaning</a:t>
            </a:r>
          </a:p>
          <a:p>
            <a:pPr>
              <a:buNone/>
            </a:pPr>
            <a:r>
              <a:rPr lang="en-US" dirty="0"/>
              <a:t>Below are the common columns in an education-based job prediction dataset:</a:t>
            </a:r>
          </a:p>
        </p:txBody>
      </p:sp>
    </p:spTree>
    <p:extLst>
      <p:ext uri="{BB962C8B-B14F-4D97-AF65-F5344CB8AC3E}">
        <p14:creationId xmlns:p14="http://schemas.microsoft.com/office/powerpoint/2010/main" val="3604256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4B0DE1-C308-CB97-AAC8-6B1A1DDA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423443"/>
            <a:ext cx="8764223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45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D1FA7-B491-DC81-1B5D-45398296782C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Target Variable (Output We Predict)</a:t>
            </a:r>
          </a:p>
          <a:p>
            <a:pPr>
              <a:buNone/>
            </a:pPr>
            <a:r>
              <a:rPr lang="en-US" b="1" dirty="0" err="1">
                <a:latin typeface="Courier New" panose="02070309020205020404" pitchFamily="49" charset="0"/>
              </a:rPr>
              <a:t>job_role</a:t>
            </a:r>
            <a:br>
              <a:rPr lang="en-US" dirty="0"/>
            </a:b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Software Developer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Analyst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Engineer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Developer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Machine Learning Engineer</a:t>
            </a:r>
          </a:p>
          <a:p>
            <a:pPr>
              <a:buNone/>
            </a:pPr>
            <a:r>
              <a:rPr lang="en-US" dirty="0"/>
              <a:t>This is the value the ML model will try to predict.</a:t>
            </a:r>
          </a:p>
        </p:txBody>
      </p:sp>
    </p:spTree>
    <p:extLst>
      <p:ext uri="{BB962C8B-B14F-4D97-AF65-F5344CB8AC3E}">
        <p14:creationId xmlns:p14="http://schemas.microsoft.com/office/powerpoint/2010/main" val="199901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278798-20BB-4ACE-F077-6C23D7E4E592}"/>
              </a:ext>
            </a:extLst>
          </p:cNvPr>
          <p:cNvSpPr txBox="1"/>
          <p:nvPr/>
        </p:nvSpPr>
        <p:spPr>
          <a:xfrm>
            <a:off x="3048000" y="18615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Identifying Numerical vs. Categorical Columns</a:t>
            </a:r>
          </a:p>
          <a:p>
            <a:pPr>
              <a:buNone/>
            </a:pPr>
            <a:r>
              <a:rPr lang="en-US" dirty="0"/>
              <a:t>Before preprocessing, you must classify the data into two types: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✔ Numerical Columns</a:t>
            </a:r>
          </a:p>
          <a:p>
            <a:pPr>
              <a:buNone/>
            </a:pPr>
            <a:r>
              <a:rPr lang="en-US" dirty="0"/>
              <a:t>Contain numbers that can be used for calculations: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Year of Graduation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 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Certifications</a:t>
            </a:r>
          </a:p>
          <a:p>
            <a:pPr>
              <a:buNone/>
            </a:pPr>
            <a:r>
              <a:rPr lang="en-US" dirty="0"/>
              <a:t>These columns are used “as numbers” in the ML model.</a:t>
            </a:r>
          </a:p>
        </p:txBody>
      </p:sp>
    </p:spTree>
    <p:extLst>
      <p:ext uri="{BB962C8B-B14F-4D97-AF65-F5344CB8AC3E}">
        <p14:creationId xmlns:p14="http://schemas.microsoft.com/office/powerpoint/2010/main" val="2189057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C29E1B-64AB-A024-6748-C02ADB93A385}"/>
              </a:ext>
            </a:extLst>
          </p:cNvPr>
          <p:cNvSpPr txBox="1"/>
          <p:nvPr/>
        </p:nvSpPr>
        <p:spPr>
          <a:xfrm>
            <a:off x="3048000" y="200001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✔ Categorical Columns</a:t>
            </a:r>
          </a:p>
          <a:p>
            <a:pPr>
              <a:buNone/>
            </a:pPr>
            <a:r>
              <a:rPr lang="en-IN" dirty="0"/>
              <a:t>Contain text categories. ML models cannot understand raw text, so these are later </a:t>
            </a:r>
            <a:r>
              <a:rPr lang="en-IN" b="1" dirty="0"/>
              <a:t>encoded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 (</a:t>
            </a:r>
            <a:r>
              <a:rPr lang="en-IN" dirty="0" err="1"/>
              <a:t>B.Tech</a:t>
            </a:r>
            <a:r>
              <a:rPr lang="en-IN" dirty="0"/>
              <a:t>, </a:t>
            </a:r>
            <a:r>
              <a:rPr lang="en-IN" dirty="0" err="1"/>
              <a:t>M.Tech</a:t>
            </a:r>
            <a:r>
              <a:rPr lang="en-IN" dirty="0"/>
              <a:t>, </a:t>
            </a:r>
            <a:r>
              <a:rPr lang="en-IN" dirty="0" err="1"/>
              <a:t>B.Sc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 (CSE, ECE, Mechanical)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Certifications Type (AWS, Python…)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Job Role (Target)</a:t>
            </a:r>
          </a:p>
          <a:p>
            <a:pPr>
              <a:buNone/>
            </a:pPr>
            <a:r>
              <a:rPr lang="en-IN" dirty="0"/>
              <a:t>Categorical data needs </a:t>
            </a:r>
            <a:r>
              <a:rPr lang="en-IN" b="1" dirty="0"/>
              <a:t>Label Encoding</a:t>
            </a:r>
            <a:r>
              <a:rPr lang="en-IN" dirty="0"/>
              <a:t> or </a:t>
            </a:r>
            <a:r>
              <a:rPr lang="en-IN" b="1" dirty="0"/>
              <a:t>One-Hot Encoding</a:t>
            </a:r>
            <a:r>
              <a:rPr lang="en-IN" dirty="0"/>
              <a:t> in later stages.</a:t>
            </a:r>
          </a:p>
        </p:txBody>
      </p:sp>
    </p:spTree>
    <p:extLst>
      <p:ext uri="{BB962C8B-B14F-4D97-AF65-F5344CB8AC3E}">
        <p14:creationId xmlns:p14="http://schemas.microsoft.com/office/powerpoint/2010/main" val="5920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9B9DEE-0F5C-D023-CD17-693D9EEC718B}"/>
              </a:ext>
            </a:extLst>
          </p:cNvPr>
          <p:cNvSpPr txBox="1"/>
          <p:nvPr/>
        </p:nvSpPr>
        <p:spPr>
          <a:xfrm>
            <a:off x="3048000" y="200001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Basic EDA (Exploratory Data Analysis)</a:t>
            </a:r>
          </a:p>
          <a:p>
            <a:pPr>
              <a:buNone/>
            </a:pPr>
            <a:r>
              <a:rPr lang="en-US" dirty="0"/>
              <a:t>EDA helps you understand the dataset before training the model.</a:t>
            </a:r>
            <a:br>
              <a:rPr lang="en-US" dirty="0"/>
            </a:br>
            <a:r>
              <a:rPr lang="en-US" dirty="0"/>
              <a:t>Below are the beginner-friendly EDA steps: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🔍 Step 1: Check Shape of the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rows?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columns?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1200 rows × 8 columns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309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C01202-FAEE-B822-F51F-B7A6DBE17AA6}"/>
              </a:ext>
            </a:extLst>
          </p:cNvPr>
          <p:cNvSpPr txBox="1"/>
          <p:nvPr/>
        </p:nvSpPr>
        <p:spPr>
          <a:xfrm>
            <a:off x="3048000" y="200001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🔍 Step 2: View First 5 Rows (Head of Dataset)</a:t>
            </a:r>
          </a:p>
          <a:p>
            <a:pPr>
              <a:buNone/>
            </a:pPr>
            <a:r>
              <a:rPr lang="en-US" dirty="0"/>
              <a:t>This gives an idea of how the data looks.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🔍 Step 3: Check Data Types</a:t>
            </a:r>
          </a:p>
          <a:p>
            <a:pPr>
              <a:buNone/>
            </a:pPr>
            <a:r>
              <a:rPr lang="en-US" dirty="0"/>
              <a:t>Helps identify which columns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numerical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categorical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object/string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boolean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873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BB3FFF-69E8-2920-7812-C1EA0A0B816B}"/>
              </a:ext>
            </a:extLst>
          </p:cNvPr>
          <p:cNvSpPr txBox="1"/>
          <p:nvPr/>
        </p:nvSpPr>
        <p:spPr>
          <a:xfrm>
            <a:off x="3048000" y="116902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🔍 Step 4: Check Missing Values</a:t>
            </a:r>
          </a:p>
          <a:p>
            <a:pPr>
              <a:buNone/>
            </a:pPr>
            <a:r>
              <a:rPr lang="en-US" dirty="0"/>
              <a:t>Find out if any student’s profile has empty fields.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 missing?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 empty?</a:t>
            </a:r>
          </a:p>
          <a:p>
            <a:pPr>
              <a:buNone/>
            </a:pPr>
            <a:r>
              <a:rPr lang="en-US" dirty="0"/>
              <a:t>These must be handled during preprocessing.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🔍 Step 5: Value Counts for Important Columns</a:t>
            </a:r>
          </a:p>
          <a:p>
            <a:pPr>
              <a:buNone/>
            </a:pP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students are from </a:t>
            </a:r>
            <a:r>
              <a:rPr lang="en-US" b="1" dirty="0"/>
              <a:t>CSE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have </a:t>
            </a:r>
            <a:r>
              <a:rPr lang="en-US" b="1" dirty="0"/>
              <a:t>Software Developer</a:t>
            </a:r>
            <a:r>
              <a:rPr lang="en-US" dirty="0"/>
              <a:t> as a job role?</a:t>
            </a:r>
          </a:p>
          <a:p>
            <a:pPr>
              <a:buNone/>
            </a:pPr>
            <a:r>
              <a:rPr lang="en-US" dirty="0"/>
              <a:t>This helps identify: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imbalance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degrees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popular specializations</a:t>
            </a:r>
          </a:p>
        </p:txBody>
      </p:sp>
    </p:spTree>
    <p:extLst>
      <p:ext uri="{BB962C8B-B14F-4D97-AF65-F5344CB8AC3E}">
        <p14:creationId xmlns:p14="http://schemas.microsoft.com/office/powerpoint/2010/main" val="3285100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F369BF-7710-AD4D-C076-2658434015EE}"/>
              </a:ext>
            </a:extLst>
          </p:cNvPr>
          <p:cNvSpPr txBox="1"/>
          <p:nvPr/>
        </p:nvSpPr>
        <p:spPr>
          <a:xfrm>
            <a:off x="3048000" y="1030520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🔍 Step 6: Summary Statistics (Describe)</a:t>
            </a:r>
          </a:p>
          <a:p>
            <a:pPr>
              <a:buNone/>
            </a:pPr>
            <a:r>
              <a:rPr lang="en-IN" dirty="0"/>
              <a:t>For numerical columns: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standard deviation</a:t>
            </a:r>
          </a:p>
          <a:p>
            <a:pPr>
              <a:buNone/>
            </a:pPr>
            <a:r>
              <a:rPr lang="en-IN" dirty="0"/>
              <a:t>Example Checks: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Average 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Highest/lowest 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Are there unrealistic values (CGPA &gt;10)?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🔍 Step 7: Identify Outliers</a:t>
            </a:r>
          </a:p>
          <a:p>
            <a:pPr>
              <a:buNone/>
            </a:pPr>
            <a:r>
              <a:rPr lang="en-IN" dirty="0"/>
              <a:t>Unusual values that might affect model performance.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CGPA = 2 (Too low?)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Certifications = 50 (Unrealistic?)</a:t>
            </a:r>
          </a:p>
        </p:txBody>
      </p:sp>
    </p:spTree>
    <p:extLst>
      <p:ext uri="{BB962C8B-B14F-4D97-AF65-F5344CB8AC3E}">
        <p14:creationId xmlns:p14="http://schemas.microsoft.com/office/powerpoint/2010/main" val="3908339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ECE59-7C70-579C-5746-E07D8210D5AF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5️⃣ Why Day 2 is Important in Milestone 3</a:t>
            </a:r>
          </a:p>
          <a:p>
            <a:pPr>
              <a:buNone/>
            </a:pPr>
            <a:r>
              <a:rPr lang="en-US" dirty="0"/>
              <a:t>Understanding the dataset helps you: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the data properly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Choose correct preprocessing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 what features actually affect job role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Prepare for model training on Day 3–Day 4</a:t>
            </a:r>
          </a:p>
          <a:p>
            <a:pPr>
              <a:buNone/>
            </a:pPr>
            <a:r>
              <a:rPr lang="en-US" dirty="0"/>
              <a:t>This is the </a:t>
            </a:r>
            <a:r>
              <a:rPr lang="en-US" i="1" dirty="0"/>
              <a:t>foundation</a:t>
            </a:r>
            <a:r>
              <a:rPr lang="en-US" dirty="0"/>
              <a:t> for the machine learning pipeline.</a:t>
            </a:r>
          </a:p>
        </p:txBody>
      </p:sp>
    </p:spTree>
    <p:extLst>
      <p:ext uri="{BB962C8B-B14F-4D97-AF65-F5344CB8AC3E}">
        <p14:creationId xmlns:p14="http://schemas.microsoft.com/office/powerpoint/2010/main" val="2562724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9D221-33B2-DE52-2E9B-ECF35E3FCB16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Day 2 Output (What Student Should Achieve)</a:t>
            </a:r>
          </a:p>
          <a:p>
            <a:pPr>
              <a:buNone/>
            </a:pPr>
            <a:r>
              <a:rPr lang="en-US" dirty="0"/>
              <a:t>By the end of Day 2, student should be able to:</a:t>
            </a:r>
          </a:p>
          <a:p>
            <a:pPr>
              <a:buNone/>
            </a:pPr>
            <a:r>
              <a:rPr lang="en-US" dirty="0"/>
              <a:t>✔ Understand every column in the dataset</a:t>
            </a:r>
            <a:br>
              <a:rPr lang="en-US" dirty="0"/>
            </a:br>
            <a:r>
              <a:rPr lang="en-US" dirty="0"/>
              <a:t>✔ Identify input features and target variable</a:t>
            </a:r>
            <a:br>
              <a:rPr lang="en-US" dirty="0"/>
            </a:br>
            <a:r>
              <a:rPr lang="en-US" dirty="0"/>
              <a:t>✔ Classify numerical vs categorical variables</a:t>
            </a:r>
            <a:br>
              <a:rPr lang="en-US" dirty="0"/>
            </a:br>
            <a:r>
              <a:rPr lang="en-US" dirty="0"/>
              <a:t>✔ Perform basic EDA</a:t>
            </a:r>
            <a:br>
              <a:rPr lang="en-US" dirty="0"/>
            </a:br>
            <a:r>
              <a:rPr lang="en-US" dirty="0"/>
              <a:t>✔ Detect missing values &amp; outliers</a:t>
            </a:r>
            <a:br>
              <a:rPr lang="en-US" dirty="0"/>
            </a:br>
            <a:r>
              <a:rPr lang="en-US" dirty="0"/>
              <a:t>✔ Prepare a summary report of dataset insights</a:t>
            </a:r>
          </a:p>
        </p:txBody>
      </p:sp>
    </p:spTree>
    <p:extLst>
      <p:ext uri="{BB962C8B-B14F-4D97-AF65-F5344CB8AC3E}">
        <p14:creationId xmlns:p14="http://schemas.microsoft.com/office/powerpoint/2010/main" val="1219251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B66867-345F-4AEC-1FB3-A18804B0DF0D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✔ Output Submission for Day 2</a:t>
            </a:r>
          </a:p>
          <a:p>
            <a:pPr>
              <a:buNone/>
            </a:pPr>
            <a:r>
              <a:rPr lang="en-US" dirty="0"/>
              <a:t>Students must submit a PDF or screenshot containing:</a:t>
            </a:r>
          </a:p>
          <a:p>
            <a:pPr>
              <a:buFont typeface="+mj-lt"/>
              <a:buAutoNum type="arabicPeriod"/>
            </a:pPr>
            <a:r>
              <a:rPr lang="en-US" dirty="0"/>
              <a:t>Column list</a:t>
            </a:r>
          </a:p>
          <a:p>
            <a:pPr>
              <a:buFont typeface="+mj-lt"/>
              <a:buAutoNum type="arabicPeriod"/>
            </a:pPr>
            <a:r>
              <a:rPr lang="en-US" dirty="0"/>
              <a:t>Numerical vs categorical separation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Identified target variable</a:t>
            </a:r>
          </a:p>
          <a:p>
            <a:pPr>
              <a:buFont typeface="+mj-lt"/>
              <a:buAutoNum type="arabicPeriod"/>
            </a:pPr>
            <a:r>
              <a:rPr lang="en-US" dirty="0"/>
              <a:t>Basic EDA results</a:t>
            </a:r>
          </a:p>
          <a:p>
            <a:pPr>
              <a:buFont typeface="+mj-lt"/>
              <a:buAutoNum type="arabicPeriod"/>
            </a:pPr>
            <a:r>
              <a:rPr lang="en-US" dirty="0"/>
              <a:t>Summary of findings</a:t>
            </a:r>
          </a:p>
        </p:txBody>
      </p:sp>
    </p:spTree>
    <p:extLst>
      <p:ext uri="{BB962C8B-B14F-4D97-AF65-F5344CB8AC3E}">
        <p14:creationId xmlns:p14="http://schemas.microsoft.com/office/powerpoint/2010/main" val="540518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25EC8F-15A7-DC98-AA18-4AE578FC9985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3 – Data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Label Encoding &amp; One-Hot Encoding.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missing values.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scaling / normalization.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clean data into model-ready format.</a:t>
            </a:r>
          </a:p>
        </p:txBody>
      </p:sp>
    </p:spTree>
    <p:extLst>
      <p:ext uri="{BB962C8B-B14F-4D97-AF65-F5344CB8AC3E}">
        <p14:creationId xmlns:p14="http://schemas.microsoft.com/office/powerpoint/2010/main" val="578520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4301D1-C27F-3E45-B0A9-7603A4F5B70A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Goal of Day 3</a:t>
            </a:r>
          </a:p>
          <a:p>
            <a:pPr>
              <a:buNone/>
            </a:pPr>
            <a:r>
              <a:rPr lang="en-US" dirty="0"/>
              <a:t>Today is about </a:t>
            </a:r>
            <a:r>
              <a:rPr lang="en-US" b="1" dirty="0"/>
              <a:t>cleaning, converting, and preparing the dataset</a:t>
            </a:r>
            <a:r>
              <a:rPr lang="en-US" dirty="0"/>
              <a:t> so that the machine learning model can understand it.</a:t>
            </a:r>
          </a:p>
          <a:p>
            <a:pPr>
              <a:buNone/>
            </a:pPr>
            <a:r>
              <a:rPr lang="en-US" dirty="0"/>
              <a:t>Raw data cannot be directly used for training.</a:t>
            </a:r>
            <a:br>
              <a:rPr lang="en-US" dirty="0"/>
            </a:br>
            <a:r>
              <a:rPr lang="en-US" dirty="0"/>
              <a:t>We must </a:t>
            </a:r>
            <a:r>
              <a:rPr lang="en-US" b="1" dirty="0"/>
              <a:t>encode</a:t>
            </a:r>
            <a:r>
              <a:rPr lang="en-US" dirty="0"/>
              <a:t>, </a:t>
            </a:r>
            <a:r>
              <a:rPr lang="en-US" b="1" dirty="0"/>
              <a:t>clean</a:t>
            </a:r>
            <a:r>
              <a:rPr lang="en-US" dirty="0"/>
              <a:t>, </a:t>
            </a:r>
            <a:r>
              <a:rPr lang="en-US" b="1" dirty="0"/>
              <a:t>scale</a:t>
            </a:r>
            <a:r>
              <a:rPr lang="en-US" dirty="0"/>
              <a:t>, and </a:t>
            </a:r>
            <a:r>
              <a:rPr lang="en-US" b="1" dirty="0"/>
              <a:t>properly format</a:t>
            </a:r>
            <a:r>
              <a:rPr lang="en-US" dirty="0"/>
              <a:t> the dataset.</a:t>
            </a:r>
          </a:p>
        </p:txBody>
      </p:sp>
    </p:spTree>
    <p:extLst>
      <p:ext uri="{BB962C8B-B14F-4D97-AF65-F5344CB8AC3E}">
        <p14:creationId xmlns:p14="http://schemas.microsoft.com/office/powerpoint/2010/main" val="3651120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C5D35-3A48-6E2C-36AF-E432E54E2AF5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is Data Preprocessing?</a:t>
            </a:r>
          </a:p>
          <a:p>
            <a:pPr>
              <a:buNone/>
            </a:pPr>
            <a:r>
              <a:rPr lang="en-US" dirty="0"/>
              <a:t>Data preprocessing means transforming raw data into clean, structured, and numerical format so ML models can read it.</a:t>
            </a:r>
          </a:p>
          <a:p>
            <a:pPr>
              <a:buNone/>
            </a:pPr>
            <a:r>
              <a:rPr lang="en-US" dirty="0"/>
              <a:t>It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Fixing missing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Converting text to numbers (encoding)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Scaling numerical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a final "model-ready" dataset</a:t>
            </a:r>
          </a:p>
        </p:txBody>
      </p:sp>
    </p:spTree>
    <p:extLst>
      <p:ext uri="{BB962C8B-B14F-4D97-AF65-F5344CB8AC3E}">
        <p14:creationId xmlns:p14="http://schemas.microsoft.com/office/powerpoint/2010/main" val="529754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0162EE-1F22-942C-35E0-9193532227B4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Label Encoding &amp; One-Hot Encoding</a:t>
            </a:r>
          </a:p>
          <a:p>
            <a:pPr>
              <a:buNone/>
            </a:pPr>
            <a:r>
              <a:rPr lang="en-US" b="1" dirty="0"/>
              <a:t>🔠 Why Encoding is Needed?</a:t>
            </a:r>
          </a:p>
          <a:p>
            <a:pPr>
              <a:buNone/>
            </a:pPr>
            <a:r>
              <a:rPr lang="en-US" dirty="0"/>
              <a:t>ML models </a:t>
            </a:r>
            <a:r>
              <a:rPr lang="en-US" b="1" dirty="0"/>
              <a:t>cannot understand text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only understand </a:t>
            </a:r>
            <a:r>
              <a:rPr lang="en-US" b="1" dirty="0"/>
              <a:t>numbers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So we convert categorical columns (degree, specialization, </a:t>
            </a:r>
            <a:r>
              <a:rPr lang="en-US" dirty="0" err="1"/>
              <a:t>job_role</a:t>
            </a:r>
            <a:r>
              <a:rPr lang="en-US" dirty="0"/>
              <a:t>) into numeric format.</a:t>
            </a:r>
          </a:p>
        </p:txBody>
      </p:sp>
    </p:spTree>
    <p:extLst>
      <p:ext uri="{BB962C8B-B14F-4D97-AF65-F5344CB8AC3E}">
        <p14:creationId xmlns:p14="http://schemas.microsoft.com/office/powerpoint/2010/main" val="404488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23304F-AD98-1EE6-C5C5-90D282577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1052181"/>
            <a:ext cx="8249801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82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2E37BB-0FD5-1F89-07BF-F89B390B0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440" y="575864"/>
            <a:ext cx="9269119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8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32869B-8B00-2693-BEC4-42E3F77E6753}"/>
              </a:ext>
            </a:extLst>
          </p:cNvPr>
          <p:cNvSpPr txBox="1"/>
          <p:nvPr/>
        </p:nvSpPr>
        <p:spPr>
          <a:xfrm>
            <a:off x="3048000" y="116902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Handling Missing Values</a:t>
            </a:r>
          </a:p>
          <a:p>
            <a:pPr>
              <a:buNone/>
            </a:pPr>
            <a:r>
              <a:rPr lang="en-US" dirty="0"/>
              <a:t>Missing values create errors during training.</a:t>
            </a:r>
            <a:br>
              <a:rPr lang="en-US" dirty="0"/>
            </a:br>
            <a:r>
              <a:rPr lang="en-US" dirty="0"/>
              <a:t>We must replace or remove them.</a:t>
            </a:r>
          </a:p>
          <a:p>
            <a:pPr>
              <a:buNone/>
            </a:pPr>
            <a:r>
              <a:rPr lang="en-US" b="1" dirty="0"/>
              <a:t>Common Techniques:</a:t>
            </a:r>
          </a:p>
          <a:p>
            <a:pPr>
              <a:buNone/>
            </a:pPr>
            <a:r>
              <a:rPr lang="en-US" b="1" dirty="0"/>
              <a:t>✔ Numerical Columns</a:t>
            </a:r>
          </a:p>
          <a:p>
            <a:pPr>
              <a:buNone/>
            </a:pPr>
            <a:r>
              <a:rPr lang="en-US" dirty="0"/>
              <a:t>Use </a:t>
            </a:r>
            <a:r>
              <a:rPr lang="en-US" b="1" dirty="0"/>
              <a:t>mean</a:t>
            </a:r>
            <a:r>
              <a:rPr lang="en-US" dirty="0"/>
              <a:t> or </a:t>
            </a:r>
            <a:r>
              <a:rPr lang="en-US" b="1" dirty="0"/>
              <a:t>median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Missing CGPA → replace with </a:t>
            </a:r>
            <a:r>
              <a:rPr lang="en-US" b="1" dirty="0"/>
              <a:t>average CGPA</a:t>
            </a:r>
            <a:endParaRPr lang="en-US" dirty="0"/>
          </a:p>
          <a:p>
            <a:pPr>
              <a:buNone/>
            </a:pPr>
            <a:r>
              <a:rPr lang="en-US" b="1" dirty="0"/>
              <a:t>✔ Categorical Columns</a:t>
            </a:r>
          </a:p>
          <a:p>
            <a:pPr>
              <a:buNone/>
            </a:pPr>
            <a:r>
              <a:rPr lang="en-US" dirty="0"/>
              <a:t>Use </a:t>
            </a:r>
            <a:r>
              <a:rPr lang="en-US" b="1" dirty="0"/>
              <a:t>mode</a:t>
            </a:r>
            <a:r>
              <a:rPr lang="en-US" dirty="0"/>
              <a:t> (most frequent value)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Missing specialization → fill with CSE if it is the most common</a:t>
            </a:r>
          </a:p>
          <a:p>
            <a:pPr>
              <a:buNone/>
            </a:pPr>
            <a:r>
              <a:rPr lang="en-US" b="1" dirty="0"/>
              <a:t>✔ When to drop rows?</a:t>
            </a:r>
          </a:p>
          <a:p>
            <a:pPr>
              <a:buNone/>
            </a:pPr>
            <a:r>
              <a:rPr lang="en-US" dirty="0"/>
              <a:t>Drop only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 many missing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is unusable</a:t>
            </a:r>
          </a:p>
        </p:txBody>
      </p:sp>
    </p:spTree>
    <p:extLst>
      <p:ext uri="{BB962C8B-B14F-4D97-AF65-F5344CB8AC3E}">
        <p14:creationId xmlns:p14="http://schemas.microsoft.com/office/powerpoint/2010/main" val="371172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0EF7AE-F951-3D34-58D4-B7F476DB79BD}"/>
                  </a:ext>
                </a:extLst>
              </p:cNvPr>
              <p:cNvSpPr txBox="1"/>
              <p:nvPr/>
            </p:nvSpPr>
            <p:spPr>
              <a:xfrm>
                <a:off x="3048000" y="886314"/>
                <a:ext cx="6096000" cy="5089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4️⃣ Feature Scaling / Normalization</a:t>
                </a:r>
              </a:p>
              <a:p>
                <a:pPr>
                  <a:buNone/>
                </a:pPr>
                <a:r>
                  <a:rPr lang="en-IN" dirty="0"/>
                  <a:t>Different columns have different ranges:</a:t>
                </a:r>
              </a:p>
              <a:p>
                <a:pPr>
                  <a:buNone/>
                </a:pPr>
                <a:r>
                  <a:rPr lang="en-IN" dirty="0"/>
                  <a:t>Example: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CGPA: 0–10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Certifications: 0–20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dirty="0"/>
                  <a:t>Year of graduation: 2010–2024</a:t>
                </a:r>
              </a:p>
              <a:p>
                <a:pPr>
                  <a:buNone/>
                </a:pPr>
                <a:r>
                  <a:rPr lang="en-IN" dirty="0"/>
                  <a:t>If not scaled, the model may treat larger numbers as more important.</a:t>
                </a:r>
              </a:p>
              <a:p>
                <a:pPr>
                  <a:buNone/>
                </a:pPr>
                <a:r>
                  <a:rPr lang="en-IN" b="1" dirty="0"/>
                  <a:t>Two common scaling methods:</a:t>
                </a:r>
              </a:p>
              <a:p>
                <a:pPr>
                  <a:buNone/>
                </a:pPr>
                <a:r>
                  <a:rPr lang="en-IN" b="1" dirty="0"/>
                  <a:t>✔ Min-Max Scaling (Normalization)</a:t>
                </a:r>
              </a:p>
              <a:p>
                <a:pPr>
                  <a:buNone/>
                </a:pPr>
                <a:r>
                  <a:rPr lang="en-IN" dirty="0"/>
                  <a:t>Converts values between </a:t>
                </a:r>
                <a:r>
                  <a:rPr lang="en-IN" b="1" dirty="0"/>
                  <a:t>0 and 1</a:t>
                </a:r>
                <a:endParaRPr lang="en-IN" dirty="0"/>
              </a:p>
              <a:p>
                <a:pPr>
                  <a:buNone/>
                </a:pPr>
                <a:r>
                  <a:rPr lang="en-IN" dirty="0"/>
                  <a:t>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𝑠𝑐𝑎𝑙𝑒𝑑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ar-AE" b="1" dirty="0"/>
                  <a:t>✔ </a:t>
                </a:r>
                <a:r>
                  <a:rPr lang="en-IN" b="1" dirty="0"/>
                  <a:t>Standard Scaling</a:t>
                </a:r>
              </a:p>
              <a:p>
                <a:pPr>
                  <a:buNone/>
                </a:pPr>
                <a:r>
                  <a:rPr lang="en-IN" dirty="0"/>
                  <a:t>Converts values into standard normal distribution</a:t>
                </a:r>
                <a:br>
                  <a:rPr lang="en-IN" dirty="0"/>
                </a:br>
                <a:r>
                  <a:rPr lang="en-IN" dirty="0"/>
                  <a:t>(mean = 0, std = 1)</a:t>
                </a:r>
              </a:p>
              <a:p>
                <a:pPr>
                  <a:buNone/>
                </a:pPr>
                <a:r>
                  <a:rPr lang="en-IN" dirty="0"/>
                  <a:t>Used mainly in deep learning &amp; SVM.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0EF7AE-F951-3D34-58D4-B7F476DB7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886314"/>
                <a:ext cx="6096000" cy="5089727"/>
              </a:xfrm>
              <a:prstGeom prst="rect">
                <a:avLst/>
              </a:prstGeom>
              <a:blipFill>
                <a:blip r:embed="rId2"/>
                <a:stretch>
                  <a:fillRect l="-900" t="-599" b="-9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696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AEAAFE-46C3-9B7A-7B06-A45F6368907B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Convert Clean Data Into Model-Ready Format</a:t>
            </a:r>
          </a:p>
          <a:p>
            <a:pPr>
              <a:buNone/>
            </a:pPr>
            <a:r>
              <a:rPr lang="en-IN" dirty="0"/>
              <a:t>After preprocessing, your dataset should be:</a:t>
            </a:r>
          </a:p>
          <a:p>
            <a:pPr>
              <a:buNone/>
            </a:pPr>
            <a:r>
              <a:rPr lang="en-IN" b="1" dirty="0"/>
              <a:t>✔ Fully numeric</a:t>
            </a:r>
          </a:p>
          <a:p>
            <a:pPr>
              <a:buNone/>
            </a:pPr>
            <a:r>
              <a:rPr lang="en-IN" b="1" dirty="0"/>
              <a:t>✔ No missing values</a:t>
            </a:r>
          </a:p>
          <a:p>
            <a:pPr>
              <a:buNone/>
            </a:pPr>
            <a:r>
              <a:rPr lang="en-IN" b="1" dirty="0"/>
              <a:t>✔ Encoded categorical columns</a:t>
            </a:r>
          </a:p>
          <a:p>
            <a:pPr>
              <a:buNone/>
            </a:pPr>
            <a:r>
              <a:rPr lang="en-IN" b="1" dirty="0"/>
              <a:t>✔ Scaled numerical values</a:t>
            </a:r>
          </a:p>
          <a:p>
            <a:pPr>
              <a:buNone/>
            </a:pPr>
            <a:r>
              <a:rPr lang="en-IN" b="1" dirty="0"/>
              <a:t>✔ Separated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X (features/input)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y (target/</a:t>
            </a:r>
            <a:r>
              <a:rPr lang="en-IN" b="1" dirty="0" err="1"/>
              <a:t>job_role</a:t>
            </a:r>
            <a:r>
              <a:rPr lang="en-IN" b="1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4820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9116B0-E6AE-5974-0FE2-FE05370B67A0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X = [</a:t>
            </a:r>
            <a:r>
              <a:rPr lang="en-US" dirty="0" err="1">
                <a:latin typeface="Courier New" panose="02070309020205020404" pitchFamily="49" charset="0"/>
              </a:rPr>
              <a:t>degree_encoded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specialization_onehot</a:t>
            </a:r>
            <a:r>
              <a:rPr lang="en-US" dirty="0">
                <a:latin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</a:rPr>
              <a:t>cgpa_scaled</a:t>
            </a:r>
            <a:r>
              <a:rPr lang="en-US" dirty="0">
                <a:latin typeface="Courier New" panose="02070309020205020404" pitchFamily="49" charset="0"/>
              </a:rPr>
              <a:t>, certifications, projects]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y = </a:t>
            </a:r>
            <a:r>
              <a:rPr lang="en-US" dirty="0" err="1">
                <a:latin typeface="Courier New" panose="02070309020205020404" pitchFamily="49" charset="0"/>
              </a:rPr>
              <a:t>job_role_encoded</a:t>
            </a: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dirty="0"/>
              <a:t>This final X and y will be used for </a:t>
            </a:r>
            <a:r>
              <a:rPr lang="en-US" b="1" dirty="0"/>
              <a:t>Day 4: Model Training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2720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0DB1FA-85B6-BF56-A235-2B5E788AB47A}"/>
              </a:ext>
            </a:extLst>
          </p:cNvPr>
          <p:cNvSpPr txBox="1"/>
          <p:nvPr/>
        </p:nvSpPr>
        <p:spPr>
          <a:xfrm>
            <a:off x="3048000" y="105278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📝 Day 3 — TASKS FOR STUDENTS</a:t>
            </a:r>
          </a:p>
          <a:p>
            <a:pPr>
              <a:buNone/>
            </a:pPr>
            <a:r>
              <a:rPr lang="en-US" b="1" dirty="0"/>
              <a:t>Task 1: Perform Label Encoding</a:t>
            </a:r>
          </a:p>
          <a:p>
            <a:pPr>
              <a:buNone/>
            </a:pPr>
            <a:r>
              <a:rPr lang="en-US" dirty="0"/>
              <a:t>Task 2: Apply One-Hot Encoding</a:t>
            </a:r>
          </a:p>
          <a:p>
            <a:pPr>
              <a:buNone/>
            </a:pPr>
            <a:r>
              <a:rPr lang="en-IN" dirty="0"/>
              <a:t>Task 3: Handle Missing Values</a:t>
            </a:r>
          </a:p>
          <a:p>
            <a:r>
              <a:rPr lang="en-US" b="1" dirty="0"/>
              <a:t>Task 4: Apply Feature Scaling</a:t>
            </a:r>
          </a:p>
          <a:p>
            <a:r>
              <a:rPr lang="en-US" dirty="0"/>
              <a:t>Select either:</a:t>
            </a:r>
          </a:p>
          <a:p>
            <a:r>
              <a:rPr lang="en-US" dirty="0"/>
              <a:t>Min-Max Scaling</a:t>
            </a:r>
            <a:br>
              <a:rPr lang="en-US" dirty="0"/>
            </a:br>
            <a:r>
              <a:rPr lang="en-US" dirty="0"/>
              <a:t>or</a:t>
            </a:r>
          </a:p>
          <a:p>
            <a:r>
              <a:rPr lang="en-US" dirty="0"/>
              <a:t>Standard Scaling</a:t>
            </a:r>
          </a:p>
          <a:p>
            <a:r>
              <a:rPr lang="en-US" b="1" dirty="0"/>
              <a:t>t</a:t>
            </a:r>
            <a:r>
              <a:rPr lang="en-IN" b="1" dirty="0"/>
              <a:t> ask 5: Create Final Model-Ready Dataset</a:t>
            </a:r>
          </a:p>
          <a:p>
            <a:r>
              <a:rPr lang="en-IN" dirty="0"/>
              <a:t>Submit:</a:t>
            </a:r>
          </a:p>
          <a:p>
            <a:r>
              <a:rPr lang="en-IN" dirty="0"/>
              <a:t>✔ Final X dataset (features only)</a:t>
            </a:r>
            <a:br>
              <a:rPr lang="en-IN" dirty="0"/>
            </a:br>
            <a:r>
              <a:rPr lang="en-IN" dirty="0"/>
              <a:t>✔ Final y dataset (target only)</a:t>
            </a:r>
            <a:br>
              <a:rPr lang="en-IN" dirty="0"/>
            </a:br>
            <a:r>
              <a:rPr lang="en-IN" dirty="0"/>
              <a:t>✔ Confirmation that dataset has: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70732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0B1985-9E4E-090D-94C2-460E7F5B6098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✔ Output Submission for Day 3</a:t>
            </a:r>
          </a:p>
          <a:p>
            <a:pPr>
              <a:buNone/>
            </a:pPr>
            <a:r>
              <a:rPr lang="en-US" dirty="0"/>
              <a:t>Students must submit a </a:t>
            </a:r>
            <a:r>
              <a:rPr lang="en-US" b="1" dirty="0"/>
              <a:t>PDF/screenshot</a:t>
            </a:r>
            <a:r>
              <a:rPr lang="en-US" dirty="0"/>
              <a:t> containing:</a:t>
            </a:r>
          </a:p>
          <a:p>
            <a:pPr>
              <a:buFont typeface="+mj-lt"/>
              <a:buAutoNum type="arabicPeriod"/>
            </a:pPr>
            <a:r>
              <a:rPr lang="en-US" dirty="0"/>
              <a:t>Encoded columns screenshots</a:t>
            </a:r>
          </a:p>
          <a:p>
            <a:pPr>
              <a:buFont typeface="+mj-lt"/>
              <a:buAutoNum type="arabicPeriod"/>
            </a:pPr>
            <a:r>
              <a:rPr lang="en-US" dirty="0"/>
              <a:t>Missing value handling summary</a:t>
            </a:r>
          </a:p>
          <a:p>
            <a:pPr>
              <a:buFont typeface="+mj-lt"/>
              <a:buAutoNum type="arabicPeriod"/>
            </a:pPr>
            <a:r>
              <a:rPr lang="en-US" dirty="0"/>
              <a:t>Scaled feature table</a:t>
            </a:r>
          </a:p>
          <a:p>
            <a:pPr>
              <a:buFont typeface="+mj-lt"/>
              <a:buAutoNum type="arabicPeriod"/>
            </a:pPr>
            <a:r>
              <a:rPr lang="en-US" dirty="0"/>
              <a:t>Final X and y dataset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501422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D5499-2913-DD3D-AC7A-A274F3CA2C0E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4 – Train-Test Split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split data?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Train/Test/Validation 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Avoiding data leakage.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X (features) &amp; y (labels).</a:t>
            </a:r>
          </a:p>
        </p:txBody>
      </p:sp>
    </p:spTree>
    <p:extLst>
      <p:ext uri="{BB962C8B-B14F-4D97-AF65-F5344CB8AC3E}">
        <p14:creationId xmlns:p14="http://schemas.microsoft.com/office/powerpoint/2010/main" val="2373939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0CCC1B-5AC9-5E6C-30B7-DDD01E9EBA9A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Goal of Day 4</a:t>
            </a:r>
          </a:p>
          <a:p>
            <a:pPr>
              <a:buNone/>
            </a:pPr>
            <a:r>
              <a:rPr lang="en-US" dirty="0"/>
              <a:t>Today students learn how to split the dataset so the machine learning model can be </a:t>
            </a:r>
            <a:r>
              <a:rPr lang="en-US" b="1" dirty="0"/>
              <a:t>trained correctly</a:t>
            </a:r>
            <a:r>
              <a:rPr lang="en-US" dirty="0"/>
              <a:t> and </a:t>
            </a:r>
            <a:r>
              <a:rPr lang="en-US" b="1" dirty="0"/>
              <a:t>evaluated fairly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This step prevents overfitting and ensures the model can generalize to new students’ profiles.</a:t>
            </a:r>
          </a:p>
        </p:txBody>
      </p:sp>
    </p:spTree>
    <p:extLst>
      <p:ext uri="{BB962C8B-B14F-4D97-AF65-F5344CB8AC3E}">
        <p14:creationId xmlns:p14="http://schemas.microsoft.com/office/powerpoint/2010/main" val="1853733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1EC7DE-7BCB-A37E-667D-654D891D9EC6}"/>
              </a:ext>
            </a:extLst>
          </p:cNvPr>
          <p:cNvSpPr txBox="1"/>
          <p:nvPr/>
        </p:nvSpPr>
        <p:spPr>
          <a:xfrm>
            <a:off x="3048000" y="1307519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Why Split the Data?</a:t>
            </a:r>
          </a:p>
          <a:p>
            <a:pPr>
              <a:buNone/>
            </a:pPr>
            <a:r>
              <a:rPr lang="en-US" dirty="0"/>
              <a:t>You cannot train a model on the </a:t>
            </a:r>
            <a:r>
              <a:rPr lang="en-US" b="1" dirty="0"/>
              <a:t>entire dataset</a:t>
            </a:r>
            <a:r>
              <a:rPr lang="en-US" dirty="0"/>
              <a:t> and then test it on the </a:t>
            </a:r>
            <a:r>
              <a:rPr lang="en-US" b="1" dirty="0"/>
              <a:t>same data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That would give </a:t>
            </a:r>
            <a:r>
              <a:rPr lang="en-US" b="1" dirty="0"/>
              <a:t>unrealistic accuracy</a:t>
            </a:r>
            <a:r>
              <a:rPr lang="en-US" dirty="0"/>
              <a:t> because the model already saw the answers.</a:t>
            </a:r>
          </a:p>
          <a:p>
            <a:pPr>
              <a:buNone/>
            </a:pPr>
            <a:r>
              <a:rPr lang="en-US" dirty="0"/>
              <a:t>Splitting solves this.</a:t>
            </a:r>
          </a:p>
          <a:p>
            <a:pPr>
              <a:buNone/>
            </a:pPr>
            <a:r>
              <a:rPr lang="en-US" b="1" dirty="0"/>
              <a:t>✔ Train Set</a:t>
            </a:r>
          </a:p>
          <a:p>
            <a:pPr>
              <a:buNone/>
            </a:pPr>
            <a:r>
              <a:rPr lang="en-US" dirty="0"/>
              <a:t>Used to </a:t>
            </a:r>
            <a:r>
              <a:rPr lang="en-US" b="1" dirty="0"/>
              <a:t>teach</a:t>
            </a:r>
            <a:r>
              <a:rPr lang="en-US" dirty="0"/>
              <a:t> the model patterns.</a:t>
            </a:r>
            <a:br>
              <a:rPr lang="en-US" dirty="0"/>
            </a:br>
            <a:r>
              <a:rPr lang="en-US" dirty="0"/>
              <a:t>(Usually 70–80% of data)</a:t>
            </a:r>
          </a:p>
          <a:p>
            <a:pPr>
              <a:buNone/>
            </a:pPr>
            <a:r>
              <a:rPr lang="en-US" b="1" dirty="0"/>
              <a:t>✔ Test Set</a:t>
            </a:r>
          </a:p>
          <a:p>
            <a:pPr>
              <a:buNone/>
            </a:pPr>
            <a:r>
              <a:rPr lang="en-US" dirty="0"/>
              <a:t>Used to </a:t>
            </a:r>
            <a:r>
              <a:rPr lang="en-US" b="1" dirty="0"/>
              <a:t>evaluate</a:t>
            </a:r>
            <a:r>
              <a:rPr lang="en-US" dirty="0"/>
              <a:t> the model.</a:t>
            </a:r>
            <a:br>
              <a:rPr lang="en-US" dirty="0"/>
            </a:br>
            <a:r>
              <a:rPr lang="en-US" dirty="0"/>
              <a:t>(Usually 20–30% of data)</a:t>
            </a:r>
          </a:p>
          <a:p>
            <a:pPr>
              <a:buNone/>
            </a:pPr>
            <a:r>
              <a:rPr lang="en-US" b="1" dirty="0"/>
              <a:t>✔ Validation Set (Optional for small projects)</a:t>
            </a:r>
          </a:p>
          <a:p>
            <a:pPr>
              <a:buNone/>
            </a:pPr>
            <a:r>
              <a:rPr lang="en-US" dirty="0"/>
              <a:t>Used to tune hyperparameters.</a:t>
            </a:r>
            <a:br>
              <a:rPr lang="en-US" dirty="0"/>
            </a:br>
            <a:r>
              <a:rPr lang="en-US" dirty="0"/>
              <a:t>Often taken from the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1788889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AC9B0-A881-E7D1-5ABF-22D64B09A5BF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Train/Test/Validation Explained (Simple &amp; Clear)</a:t>
            </a:r>
          </a:p>
          <a:p>
            <a:pPr>
              <a:buNone/>
            </a:pPr>
            <a:r>
              <a:rPr lang="en-IN" b="1" dirty="0"/>
              <a:t>▶ Train Set</a:t>
            </a:r>
          </a:p>
          <a:p>
            <a:pPr>
              <a:buNone/>
            </a:pPr>
            <a:r>
              <a:rPr lang="en-IN" dirty="0"/>
              <a:t>Model learns: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correlations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 CGPA → Data Analyst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CSE → Software Developer</a:t>
            </a:r>
          </a:p>
        </p:txBody>
      </p:sp>
    </p:spTree>
    <p:extLst>
      <p:ext uri="{BB962C8B-B14F-4D97-AF65-F5344CB8AC3E}">
        <p14:creationId xmlns:p14="http://schemas.microsoft.com/office/powerpoint/2010/main" val="16325461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AA24AC-311E-3E38-8C80-9DE70DB5D199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▶ Validation Set</a:t>
            </a:r>
          </a:p>
          <a:p>
            <a:pPr>
              <a:buNone/>
            </a:pPr>
            <a:r>
              <a:rPr lang="en-US" dirty="0"/>
              <a:t>Used </a:t>
            </a:r>
            <a:r>
              <a:rPr lang="en-US" b="1" dirty="0"/>
              <a:t>during training</a:t>
            </a:r>
            <a:r>
              <a:rPr lang="en-US" dirty="0"/>
              <a:t> to improve the model: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choose best hyperparameters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 overfitting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 model complexity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Deciding number of trees in Random Forest</a:t>
            </a:r>
          </a:p>
          <a:p>
            <a:pPr>
              <a:buNone/>
            </a:pPr>
            <a:r>
              <a:rPr lang="en-US" dirty="0"/>
              <a:t>If not using separate validation: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use </a:t>
            </a:r>
            <a:r>
              <a:rPr lang="en-US" b="1" dirty="0" err="1"/>
              <a:t>train_test_split</a:t>
            </a:r>
            <a:r>
              <a:rPr lang="en-US" dirty="0"/>
              <a:t> + </a:t>
            </a:r>
            <a:r>
              <a:rPr lang="en-US" b="1" dirty="0"/>
              <a:t>cross-validation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95731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A5AF4-EE6A-8BCC-264B-0C35E5D1837D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▶ Test Set</a:t>
            </a:r>
          </a:p>
          <a:p>
            <a:pPr>
              <a:buNone/>
            </a:pPr>
            <a:r>
              <a:rPr lang="en-US" dirty="0"/>
              <a:t>Model never sees this during training.</a:t>
            </a:r>
            <a:br>
              <a:rPr lang="en-US" dirty="0"/>
            </a:br>
            <a:r>
              <a:rPr lang="en-US" dirty="0"/>
              <a:t>Used only at the end to check accuracy.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Realistically test on "new student"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prediction quality</a:t>
            </a:r>
          </a:p>
        </p:txBody>
      </p:sp>
    </p:spTree>
    <p:extLst>
      <p:ext uri="{BB962C8B-B14F-4D97-AF65-F5344CB8AC3E}">
        <p14:creationId xmlns:p14="http://schemas.microsoft.com/office/powerpoint/2010/main" val="147351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1DCE26-007A-2727-54FF-301930FF963D}"/>
              </a:ext>
            </a:extLst>
          </p:cNvPr>
          <p:cNvSpPr txBox="1"/>
          <p:nvPr/>
        </p:nvSpPr>
        <p:spPr>
          <a:xfrm>
            <a:off x="3048000" y="892021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Avoiding Data Leakage (Very Important)</a:t>
            </a:r>
          </a:p>
          <a:p>
            <a:pPr>
              <a:buNone/>
            </a:pPr>
            <a:r>
              <a:rPr lang="en-US" b="1" dirty="0"/>
              <a:t>❌ What is Data Leakage?</a:t>
            </a:r>
          </a:p>
          <a:p>
            <a:pPr>
              <a:buNone/>
            </a:pPr>
            <a:r>
              <a:rPr lang="en-US" dirty="0"/>
              <a:t>When information from the </a:t>
            </a:r>
            <a:r>
              <a:rPr lang="en-US" b="1" dirty="0"/>
              <a:t>test set accidentally gets into the training process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This makes accuracy artificially high and completely unrealistic.</a:t>
            </a:r>
          </a:p>
          <a:p>
            <a:pPr>
              <a:buNone/>
            </a:pPr>
            <a:r>
              <a:rPr lang="en-US" b="1" dirty="0"/>
              <a:t>Examples of Data Leakage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Scaling entire dataset before splitting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Encoding entire dataset before splitting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test data for hyperparameter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Manually checking test data and adjusting model</a:t>
            </a:r>
          </a:p>
          <a:p>
            <a:pPr>
              <a:buNone/>
            </a:pPr>
            <a:r>
              <a:rPr lang="en-US" b="1" dirty="0"/>
              <a:t>✔ How to Prevent Leakage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First do </a:t>
            </a:r>
            <a:r>
              <a:rPr lang="en-US" b="1" dirty="0" err="1"/>
              <a:t>train_test_split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perform: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encoding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imputation</a:t>
            </a:r>
            <a:br>
              <a:rPr lang="en-US" dirty="0"/>
            </a:br>
            <a:r>
              <a:rPr lang="en-US" b="1" dirty="0"/>
              <a:t>inside the training data only</a:t>
            </a:r>
            <a:endParaRPr lang="en-US" dirty="0"/>
          </a:p>
          <a:p>
            <a:pPr>
              <a:buNone/>
            </a:pPr>
            <a:r>
              <a:rPr lang="en-US" dirty="0"/>
              <a:t>This ensures fair evaluation.</a:t>
            </a:r>
          </a:p>
        </p:txBody>
      </p:sp>
    </p:spTree>
    <p:extLst>
      <p:ext uri="{BB962C8B-B14F-4D97-AF65-F5344CB8AC3E}">
        <p14:creationId xmlns:p14="http://schemas.microsoft.com/office/powerpoint/2010/main" val="503818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738043-4D77-37CA-C70D-0C780E476939}"/>
              </a:ext>
            </a:extLst>
          </p:cNvPr>
          <p:cNvSpPr txBox="1"/>
          <p:nvPr/>
        </p:nvSpPr>
        <p:spPr>
          <a:xfrm>
            <a:off x="3048000" y="144601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Create X (Features) and y (Labels)</a:t>
            </a:r>
          </a:p>
          <a:p>
            <a:pPr>
              <a:buNone/>
            </a:pPr>
            <a:r>
              <a:rPr lang="en-IN" dirty="0"/>
              <a:t>Before splitting, divide the dataset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X</a:t>
            </a:r>
            <a:r>
              <a:rPr lang="en-IN" dirty="0"/>
              <a:t> → all feature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y</a:t>
            </a:r>
            <a:r>
              <a:rPr lang="en-IN" dirty="0"/>
              <a:t> → target column (</a:t>
            </a:r>
            <a:r>
              <a:rPr lang="en-IN" dirty="0" err="1"/>
              <a:t>job_role</a:t>
            </a:r>
            <a:r>
              <a:rPr lang="en-IN" dirty="0"/>
              <a:t> encoded)</a:t>
            </a:r>
          </a:p>
          <a:p>
            <a:pPr>
              <a:buNone/>
            </a:pPr>
            <a:r>
              <a:rPr lang="en-IN" b="1" dirty="0"/>
              <a:t>Example:</a:t>
            </a:r>
          </a:p>
          <a:p>
            <a:pPr>
              <a:buNone/>
            </a:pPr>
            <a:r>
              <a:rPr lang="en-IN" b="1" dirty="0"/>
              <a:t>X contains: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degree (encoded)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specialization (one-hot)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cgpa</a:t>
            </a:r>
            <a:r>
              <a:rPr lang="en-IN" dirty="0"/>
              <a:t> (scaled)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certifications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projects</a:t>
            </a:r>
          </a:p>
          <a:p>
            <a:pPr>
              <a:buNone/>
            </a:pPr>
            <a:r>
              <a:rPr lang="en-IN" b="1" dirty="0"/>
              <a:t>y contains: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job_role</a:t>
            </a:r>
            <a:r>
              <a:rPr lang="en-IN" dirty="0"/>
              <a:t> (label encoded)</a:t>
            </a:r>
          </a:p>
          <a:p>
            <a:pPr>
              <a:buNone/>
            </a:pPr>
            <a:r>
              <a:rPr lang="en-IN" dirty="0"/>
              <a:t>This is the fundamental input and output structure for ML models.</a:t>
            </a:r>
          </a:p>
        </p:txBody>
      </p:sp>
    </p:spTree>
    <p:extLst>
      <p:ext uri="{BB962C8B-B14F-4D97-AF65-F5344CB8AC3E}">
        <p14:creationId xmlns:p14="http://schemas.microsoft.com/office/powerpoint/2010/main" val="10371998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5300BA-9431-5D14-A661-ACD19AF2BEF5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Perform Train–Test Split</a:t>
            </a:r>
          </a:p>
          <a:p>
            <a:pPr>
              <a:buNone/>
            </a:pPr>
            <a:r>
              <a:rPr lang="en-IN" dirty="0"/>
              <a:t>Common ratios: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80% train – 20% test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70% train – 30% test</a:t>
            </a:r>
            <a:endParaRPr lang="en-IN" dirty="0"/>
          </a:p>
          <a:p>
            <a:pPr>
              <a:buNone/>
            </a:pPr>
            <a:r>
              <a:rPr lang="en-IN" dirty="0"/>
              <a:t>Standard split example: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X_train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X_test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y_train</a:t>
            </a:r>
            <a:r>
              <a:rPr lang="en-IN" dirty="0">
                <a:latin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</a:rPr>
              <a:t>y_test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train_test_split</a:t>
            </a:r>
            <a:r>
              <a:rPr lang="en-IN" dirty="0">
                <a:latin typeface="Courier New" panose="02070309020205020404" pitchFamily="49" charset="0"/>
              </a:rPr>
              <a:t>(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X, y, </a:t>
            </a:r>
            <a:r>
              <a:rPr lang="en-IN" dirty="0" err="1">
                <a:latin typeface="Courier New" panose="02070309020205020404" pitchFamily="49" charset="0"/>
              </a:rPr>
              <a:t>test_size</a:t>
            </a:r>
            <a:r>
              <a:rPr lang="en-IN" dirty="0">
                <a:latin typeface="Courier New" panose="02070309020205020404" pitchFamily="49" charset="0"/>
              </a:rPr>
              <a:t>=0.2, </a:t>
            </a:r>
            <a:r>
              <a:rPr lang="en-IN" dirty="0" err="1">
                <a:latin typeface="Courier New" panose="02070309020205020404" pitchFamily="49" charset="0"/>
              </a:rPr>
              <a:t>random_state</a:t>
            </a:r>
            <a:r>
              <a:rPr lang="en-IN" dirty="0">
                <a:latin typeface="Courier New" panose="02070309020205020404" pitchFamily="49" charset="0"/>
              </a:rPr>
              <a:t>=42)</a:t>
            </a:r>
          </a:p>
        </p:txBody>
      </p:sp>
    </p:spTree>
    <p:extLst>
      <p:ext uri="{BB962C8B-B14F-4D97-AF65-F5344CB8AC3E}">
        <p14:creationId xmlns:p14="http://schemas.microsoft.com/office/powerpoint/2010/main" val="444773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EDFAE7-FD58-7F48-02FE-95A5B88548B7}"/>
              </a:ext>
            </a:extLst>
          </p:cNvPr>
          <p:cNvSpPr txBox="1"/>
          <p:nvPr/>
        </p:nvSpPr>
        <p:spPr>
          <a:xfrm>
            <a:off x="3048000" y="310801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📝 Day 4 — TASKS FOR STUDENTS</a:t>
            </a:r>
          </a:p>
          <a:p>
            <a:pPr>
              <a:buNone/>
            </a:pPr>
            <a:r>
              <a:rPr lang="en-US" b="1" dirty="0"/>
              <a:t>Task 1: Create X and y</a:t>
            </a:r>
          </a:p>
          <a:p>
            <a:pPr>
              <a:buNone/>
            </a:pPr>
            <a:r>
              <a:rPr lang="en-US" dirty="0"/>
              <a:t>Task 2: Perform Train–Test Split</a:t>
            </a:r>
          </a:p>
          <a:p>
            <a:pPr>
              <a:buNone/>
            </a:pPr>
            <a:r>
              <a:rPr lang="en-US" dirty="0"/>
              <a:t>Task 3: Explain Train/Test/Validation in your own words</a:t>
            </a:r>
          </a:p>
          <a:p>
            <a:pPr>
              <a:buNone/>
            </a:pPr>
            <a:r>
              <a:rPr lang="en-US" dirty="0"/>
              <a:t>Task 4: Identify Risks of Data Leakage</a:t>
            </a:r>
          </a:p>
          <a:p>
            <a:pPr>
              <a:buNone/>
            </a:pPr>
            <a:r>
              <a:rPr lang="en-US" dirty="0"/>
              <a:t>Task 5: Ensure No Leakage Happened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466497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CEF155-9AE8-D458-EF0F-4389F8A88356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5 – Model Selection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Introduction to ML models for classification: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Random Forest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ensemble models are better for multi-class prediction.</a:t>
            </a:r>
          </a:p>
        </p:txBody>
      </p:sp>
    </p:spTree>
    <p:extLst>
      <p:ext uri="{BB962C8B-B14F-4D97-AF65-F5344CB8AC3E}">
        <p14:creationId xmlns:p14="http://schemas.microsoft.com/office/powerpoint/2010/main" val="5944223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C0FF1-4E6F-31FF-0F28-AC961E2CE3A1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Goal of Day 5</a:t>
            </a:r>
          </a:p>
          <a:p>
            <a:pPr>
              <a:buNone/>
            </a:pPr>
            <a:r>
              <a:rPr lang="en-US" dirty="0"/>
              <a:t>Students learn: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ML models can be used for </a:t>
            </a:r>
            <a:r>
              <a:rPr lang="en-US" b="1" dirty="0"/>
              <a:t>multi-class job role prediction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each model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 ensemble models (Random Forest, </a:t>
            </a:r>
            <a:r>
              <a:rPr lang="en-US" dirty="0" err="1"/>
              <a:t>XGBoost</a:t>
            </a:r>
            <a:r>
              <a:rPr lang="en-US" dirty="0"/>
              <a:t>) perform better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to choose the best model for your dataset</a:t>
            </a:r>
          </a:p>
          <a:p>
            <a:pPr>
              <a:buNone/>
            </a:pPr>
            <a:r>
              <a:rPr lang="en-US" dirty="0"/>
              <a:t>Today is fully theory +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6157830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FB8A73-CFA3-BA27-E4FF-EE6B3E33C526}"/>
              </a:ext>
            </a:extLst>
          </p:cNvPr>
          <p:cNvSpPr txBox="1"/>
          <p:nvPr/>
        </p:nvSpPr>
        <p:spPr>
          <a:xfrm>
            <a:off x="3048000" y="18615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What is Classification? (Beginner-friendly)</a:t>
            </a:r>
          </a:p>
          <a:p>
            <a:pPr>
              <a:buNone/>
            </a:pPr>
            <a:r>
              <a:rPr lang="en-US" dirty="0"/>
              <a:t>Since </a:t>
            </a:r>
            <a:r>
              <a:rPr lang="en-US" b="1" dirty="0" err="1"/>
              <a:t>job_role</a:t>
            </a:r>
            <a:r>
              <a:rPr lang="en-US" dirty="0"/>
              <a:t> has multiple categories (Developer, Analyst, Cloud, ML Engineer…), this is a </a:t>
            </a:r>
            <a:r>
              <a:rPr lang="en-US" b="1" dirty="0"/>
              <a:t>multi-class classification problem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A classification model learns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CGPA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Degree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Specialization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Certifications</a:t>
            </a:r>
          </a:p>
          <a:p>
            <a:pPr>
              <a:buNone/>
            </a:pPr>
            <a:r>
              <a:rPr lang="en-US" dirty="0"/>
              <a:t>and predicts </a:t>
            </a:r>
            <a:r>
              <a:rPr lang="en-US" b="1" dirty="0"/>
              <a:t>which job role</a:t>
            </a:r>
            <a:r>
              <a:rPr lang="en-US" dirty="0"/>
              <a:t> fits best.</a:t>
            </a:r>
          </a:p>
        </p:txBody>
      </p:sp>
    </p:spTree>
    <p:extLst>
      <p:ext uri="{BB962C8B-B14F-4D97-AF65-F5344CB8AC3E}">
        <p14:creationId xmlns:p14="http://schemas.microsoft.com/office/powerpoint/2010/main" val="12482472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7D8F6E-87CC-D460-36E3-0AE961ED3966}"/>
              </a:ext>
            </a:extLst>
          </p:cNvPr>
          <p:cNvSpPr txBox="1"/>
          <p:nvPr/>
        </p:nvSpPr>
        <p:spPr>
          <a:xfrm>
            <a:off x="3048000" y="199523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Introduction to ML Models for Classification</a:t>
            </a:r>
          </a:p>
          <a:p>
            <a:pPr>
              <a:buNone/>
            </a:pPr>
            <a:r>
              <a:rPr lang="en-US" dirty="0"/>
              <a:t>Below are the 3 most important models you teach for Milestone 3.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/>
              <a:t>✔ Model 1: Logistic Regression (Baseline Classifier)</a:t>
            </a:r>
          </a:p>
          <a:p>
            <a:pPr>
              <a:buNone/>
            </a:pPr>
            <a:r>
              <a:rPr lang="en-US" b="1" dirty="0"/>
              <a:t>What it is:</a:t>
            </a:r>
          </a:p>
          <a:p>
            <a:pPr>
              <a:buNone/>
            </a:pPr>
            <a:r>
              <a:rPr lang="en-US" dirty="0"/>
              <a:t>A simple machine learning algorithm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binary classification (2 outputs)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multi-class classification (using </a:t>
            </a:r>
            <a:r>
              <a:rPr lang="en-US" dirty="0" err="1"/>
              <a:t>Softmax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b="1" dirty="0"/>
              <a:t>How it works:</a:t>
            </a:r>
          </a:p>
          <a:p>
            <a:pPr>
              <a:buNone/>
            </a:pPr>
            <a:r>
              <a:rPr lang="en-US" dirty="0"/>
              <a:t>It draws boundaries between classes using a linear equation.</a:t>
            </a:r>
          </a:p>
          <a:p>
            <a:pPr>
              <a:buNone/>
            </a:pPr>
            <a:r>
              <a:rPr lang="en-US" b="1" dirty="0"/>
              <a:t>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baseline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to explain</a:t>
            </a:r>
          </a:p>
          <a:p>
            <a:pPr>
              <a:buNone/>
            </a:pPr>
            <a:r>
              <a:rPr lang="en-US" b="1" dirty="0"/>
              <a:t>Disadvantages: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poorly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non-linear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complex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category features</a:t>
            </a:r>
          </a:p>
          <a:p>
            <a:pPr>
              <a:buNone/>
            </a:pPr>
            <a:r>
              <a:rPr lang="en-US" b="1" dirty="0"/>
              <a:t>Not the best for job prediction</a:t>
            </a:r>
            <a:r>
              <a:rPr lang="en-US" dirty="0"/>
              <a:t>, but good as a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11367315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24FEE8-FDEE-E45A-AE2D-F745092A24B4}"/>
              </a:ext>
            </a:extLst>
          </p:cNvPr>
          <p:cNvSpPr txBox="1"/>
          <p:nvPr/>
        </p:nvSpPr>
        <p:spPr>
          <a:xfrm>
            <a:off x="3048000" y="28310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6 –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 Random Forest / </a:t>
            </a:r>
            <a:r>
              <a:rPr lang="en-US" dirty="0" err="1"/>
              <a:t>XGBoost</a:t>
            </a:r>
            <a:r>
              <a:rPr lang="en-US" dirty="0"/>
              <a:t>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Fit data &amp; generate classification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using accuracy, F1-score.</a:t>
            </a:r>
          </a:p>
        </p:txBody>
      </p:sp>
    </p:spTree>
    <p:extLst>
      <p:ext uri="{BB962C8B-B14F-4D97-AF65-F5344CB8AC3E}">
        <p14:creationId xmlns:p14="http://schemas.microsoft.com/office/powerpoint/2010/main" val="31786381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034BE1-6963-BB21-0EA8-DEA32644CD2D}"/>
              </a:ext>
            </a:extLst>
          </p:cNvPr>
          <p:cNvSpPr txBox="1"/>
          <p:nvPr/>
        </p:nvSpPr>
        <p:spPr>
          <a:xfrm>
            <a:off x="3048000" y="28310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Train a Machine Learning model that can </a:t>
            </a:r>
            <a:r>
              <a:rPr lang="en-US" b="1" dirty="0"/>
              <a:t>predict suitable job roles</a:t>
            </a:r>
            <a:r>
              <a:rPr lang="en-US" dirty="0"/>
              <a:t> based on a user’s education details and </a:t>
            </a:r>
            <a:r>
              <a:rPr lang="en-US" b="1" dirty="0"/>
              <a:t>evaluate its performance</a:t>
            </a:r>
            <a:r>
              <a:rPr lang="en-US" dirty="0"/>
              <a:t> using proper metrics.</a:t>
            </a:r>
          </a:p>
        </p:txBody>
      </p:sp>
    </p:spTree>
    <p:extLst>
      <p:ext uri="{BB962C8B-B14F-4D97-AF65-F5344CB8AC3E}">
        <p14:creationId xmlns:p14="http://schemas.microsoft.com/office/powerpoint/2010/main" val="12073006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C571CD-32F5-570B-36CB-F65487CE37C5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Why Model Training is Needed</a:t>
            </a:r>
          </a:p>
          <a:p>
            <a:pPr>
              <a:buNone/>
            </a:pPr>
            <a:r>
              <a:rPr lang="en-US" dirty="0"/>
              <a:t>After preprocessing (encoding, scaling, cleaning), we now have </a:t>
            </a:r>
            <a:r>
              <a:rPr lang="en-US" b="1" dirty="0"/>
              <a:t>numerical data</a:t>
            </a:r>
            <a:r>
              <a:rPr lang="en-US" dirty="0"/>
              <a:t> that a machine learning model can understand.</a:t>
            </a:r>
          </a:p>
          <a:p>
            <a:pPr>
              <a:buNone/>
            </a:pPr>
            <a:r>
              <a:rPr lang="en-US" dirty="0"/>
              <a:t>Model training helps 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patterns between </a:t>
            </a:r>
            <a:r>
              <a:rPr lang="en-US" b="1" dirty="0"/>
              <a:t>education details</a:t>
            </a:r>
            <a:r>
              <a:rPr lang="en-US" dirty="0"/>
              <a:t> (degree, specialization, CGPA, skills)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 the </a:t>
            </a:r>
            <a:r>
              <a:rPr lang="en-US" b="1" dirty="0"/>
              <a:t>job role</a:t>
            </a:r>
            <a:r>
              <a:rPr lang="en-US" dirty="0"/>
              <a:t> associated with similar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 it can predict job roles for new users accurately</a:t>
            </a:r>
          </a:p>
        </p:txBody>
      </p:sp>
    </p:spTree>
    <p:extLst>
      <p:ext uri="{BB962C8B-B14F-4D97-AF65-F5344CB8AC3E}">
        <p14:creationId xmlns:p14="http://schemas.microsoft.com/office/powerpoint/2010/main" val="6181369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996E56-9B14-10CC-44AF-959C346AFDBA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Models Used in Milestone 3</a:t>
            </a:r>
          </a:p>
          <a:p>
            <a:pPr>
              <a:buNone/>
            </a:pPr>
            <a:r>
              <a:rPr lang="en-US" b="1" dirty="0"/>
              <a:t>🔹 Random Forest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b="1" dirty="0"/>
              <a:t>ensemble model</a:t>
            </a:r>
            <a:r>
              <a:rPr lang="en-US" dirty="0"/>
              <a:t> (uses multiple decision trees)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tree votes for a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prediction is the </a:t>
            </a:r>
            <a:r>
              <a:rPr lang="en-US" b="1" dirty="0"/>
              <a:t>most common vote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well for </a:t>
            </a:r>
            <a:r>
              <a:rPr lang="en-US" b="1" dirty="0"/>
              <a:t>multi-class problems</a:t>
            </a:r>
            <a:r>
              <a:rPr lang="en-US" dirty="0"/>
              <a:t> like job role prediction</a:t>
            </a:r>
          </a:p>
          <a:p>
            <a:pPr>
              <a:buNone/>
            </a:pPr>
            <a:r>
              <a:rPr lang="en-US" b="1" dirty="0"/>
              <a:t>🔹 </a:t>
            </a:r>
            <a:r>
              <a:rPr lang="en-US" b="1" dirty="0" err="1"/>
              <a:t>XGBoost</a:t>
            </a:r>
            <a:r>
              <a:rPr lang="en-US" b="1" dirty="0"/>
              <a:t> (Optional / Advanced)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Gradient boosting algorithm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Learns from mistakes of previous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and often more accurate than 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Suitable when dataset is large and complex</a:t>
            </a:r>
          </a:p>
          <a:p>
            <a:pPr>
              <a:buNone/>
            </a:pPr>
            <a:r>
              <a:rPr lang="en-US" dirty="0"/>
              <a:t>👉 In Milestone 3, </a:t>
            </a:r>
            <a:r>
              <a:rPr lang="en-US" b="1" dirty="0"/>
              <a:t>at least one model (Random Forest)</a:t>
            </a:r>
            <a:r>
              <a:rPr lang="en-US" dirty="0"/>
              <a:t> must be trained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1293078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F6CDA8-B134-00B5-E2C6-3C1CE94EF70E}"/>
              </a:ext>
            </a:extLst>
          </p:cNvPr>
          <p:cNvSpPr txBox="1"/>
          <p:nvPr/>
        </p:nvSpPr>
        <p:spPr>
          <a:xfrm>
            <a:off x="3048000" y="200001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Training the Model (Fit the Data)</a:t>
            </a:r>
          </a:p>
          <a:p>
            <a:pPr>
              <a:buNone/>
            </a:pPr>
            <a:r>
              <a:rPr lang="en-IN" b="1" dirty="0"/>
              <a:t>Step 1: Prepare Training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X (Features)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Degree (encoded)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Specialization (encoded)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CGPA (scaled)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Certifications / Skills (encoded)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y (Target / Label)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Job Role (e.g., Software Engineer, Data Analyst, ML Engineer)</a:t>
            </a:r>
          </a:p>
        </p:txBody>
      </p:sp>
    </p:spTree>
    <p:extLst>
      <p:ext uri="{BB962C8B-B14F-4D97-AF65-F5344CB8AC3E}">
        <p14:creationId xmlns:p14="http://schemas.microsoft.com/office/powerpoint/2010/main" val="20571402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EDF418-4BA2-1763-FBFC-3B216C0CF039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Train the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is given </a:t>
            </a:r>
            <a:r>
              <a:rPr lang="en-US" b="1" dirty="0" err="1"/>
              <a:t>X_train</a:t>
            </a:r>
            <a:r>
              <a:rPr lang="en-US" b="1" dirty="0"/>
              <a:t> and </a:t>
            </a:r>
            <a:r>
              <a:rPr lang="en-US" b="1" dirty="0" err="1"/>
              <a:t>y_train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learns relationships between education details and job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process is called </a:t>
            </a:r>
            <a:r>
              <a:rPr lang="en-US" b="1" dirty="0"/>
              <a:t>fitting the model</a:t>
            </a:r>
            <a:endParaRPr lang="en-US" dirty="0"/>
          </a:p>
          <a:p>
            <a:pPr>
              <a:buNone/>
            </a:pPr>
            <a:r>
              <a:rPr lang="en-US" dirty="0"/>
              <a:t>📌 Example concept (not code):</a:t>
            </a:r>
          </a:p>
          <a:p>
            <a:pPr>
              <a:buNone/>
            </a:pPr>
            <a:r>
              <a:rPr lang="en-US" dirty="0"/>
              <a:t>“The model learns that students with </a:t>
            </a:r>
            <a:r>
              <a:rPr lang="en-US" dirty="0" err="1"/>
              <a:t>B.Tech</a:t>
            </a:r>
            <a:r>
              <a:rPr lang="en-US" dirty="0"/>
              <a:t> + CS + high CGPA often become Software Engineers.”</a:t>
            </a:r>
          </a:p>
        </p:txBody>
      </p:sp>
    </p:spTree>
    <p:extLst>
      <p:ext uri="{BB962C8B-B14F-4D97-AF65-F5344CB8AC3E}">
        <p14:creationId xmlns:p14="http://schemas.microsoft.com/office/powerpoint/2010/main" val="7296373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78572-6F08-6E0B-C4D9-11472C45BA98}"/>
              </a:ext>
            </a:extLst>
          </p:cNvPr>
          <p:cNvSpPr txBox="1"/>
          <p:nvPr/>
        </p:nvSpPr>
        <p:spPr>
          <a:xfrm>
            <a:off x="3048000" y="200001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Generate Classification Output (Predictions)</a:t>
            </a:r>
          </a:p>
          <a:p>
            <a:pPr>
              <a:buNone/>
            </a:pPr>
            <a:r>
              <a:rPr lang="en-IN" dirty="0"/>
              <a:t>After training: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model is tested on </a:t>
            </a:r>
            <a:r>
              <a:rPr lang="en-IN" b="1" dirty="0" err="1"/>
              <a:t>X_test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predicts job roles for unseen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Output 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Predicted Job Role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Probability / Confidence score (optional)</a:t>
            </a:r>
          </a:p>
          <a:p>
            <a:pPr>
              <a:buNone/>
            </a:pPr>
            <a:r>
              <a:rPr lang="en-IN" dirty="0"/>
              <a:t>📌 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Input Profile → </a:t>
            </a:r>
            <a:r>
              <a:rPr lang="en-IN" dirty="0" err="1">
                <a:latin typeface="Courier New" panose="02070309020205020404" pitchFamily="49" charset="0"/>
              </a:rPr>
              <a:t>B.Tech</a:t>
            </a:r>
            <a:r>
              <a:rPr lang="en-IN" dirty="0">
                <a:latin typeface="Courier New" panose="02070309020205020404" pitchFamily="49" charset="0"/>
              </a:rPr>
              <a:t>, AI, CGPA 8.4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Predicted Role →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33055905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780DE7-EBA3-C8D5-02B5-8C87C122BB5F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5️⃣ Model Evaluation Metrics</a:t>
            </a:r>
          </a:p>
          <a:p>
            <a:pPr>
              <a:buNone/>
            </a:pPr>
            <a:r>
              <a:rPr lang="en-US" dirty="0"/>
              <a:t>Evaluation tells us </a:t>
            </a:r>
            <a:r>
              <a:rPr lang="en-US" b="1" dirty="0"/>
              <a:t>how good the model is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✅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how many predictions were correct overall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easy to understand</a:t>
            </a:r>
          </a:p>
          <a:p>
            <a:pPr>
              <a:buNone/>
            </a:pPr>
            <a:r>
              <a:rPr lang="en-US" dirty="0"/>
              <a:t>📌 Formula: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Accuracy = Correct Predictions / Total Predictions</a:t>
            </a:r>
          </a:p>
          <a:p>
            <a:pPr>
              <a:buNone/>
            </a:pPr>
            <a:r>
              <a:rPr lang="en-US" dirty="0"/>
              <a:t>📌 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80 correct predictions out of 100 → Accuracy = 80%</a:t>
            </a:r>
          </a:p>
        </p:txBody>
      </p:sp>
    </p:spTree>
    <p:extLst>
      <p:ext uri="{BB962C8B-B14F-4D97-AF65-F5344CB8AC3E}">
        <p14:creationId xmlns:p14="http://schemas.microsoft.com/office/powerpoint/2010/main" val="35670827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25F25C-4C5F-5E54-A442-2313A71CA542}"/>
              </a:ext>
            </a:extLst>
          </p:cNvPr>
          <p:cNvSpPr txBox="1"/>
          <p:nvPr/>
        </p:nvSpPr>
        <p:spPr>
          <a:xfrm>
            <a:off x="3048000" y="18615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F1-Score (Very Important for Milestone 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Balances </a:t>
            </a:r>
            <a:r>
              <a:rPr lang="en-US" b="1" dirty="0"/>
              <a:t>Precision</a:t>
            </a:r>
            <a:r>
              <a:rPr lang="en-US" dirty="0"/>
              <a:t> and </a:t>
            </a:r>
            <a:r>
              <a:rPr lang="en-US" b="1" dirty="0"/>
              <a:t>Recall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Multiple job roles exist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Some roles have fewer samples</a:t>
            </a:r>
          </a:p>
          <a:p>
            <a:pPr>
              <a:buNone/>
            </a:pPr>
            <a:r>
              <a:rPr lang="en-US" dirty="0"/>
              <a:t>📌 Why F1-score?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alone can be misleading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F1-score shows how well each job role is predicted</a:t>
            </a:r>
          </a:p>
          <a:p>
            <a:pPr>
              <a:buNone/>
            </a:pPr>
            <a:r>
              <a:rPr lang="en-US" dirty="0"/>
              <a:t>📌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predicts “Data Analyst” correctly without confusion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F1-score means </a:t>
            </a:r>
            <a:r>
              <a:rPr lang="en-US" b="1" dirty="0"/>
              <a:t>reliable predictions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64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CD193-6F46-7559-1D32-75C0859A258C}"/>
              </a:ext>
            </a:extLst>
          </p:cNvPr>
          <p:cNvSpPr txBox="1"/>
          <p:nvPr/>
        </p:nvSpPr>
        <p:spPr>
          <a:xfrm>
            <a:off x="3048000" y="1017112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Task 1: Load Preprocessed Dataset</a:t>
            </a:r>
          </a:p>
          <a:p>
            <a:r>
              <a:rPr lang="en-US" dirty="0"/>
              <a:t>✅ Task 2: Split Data into Features &amp; Target</a:t>
            </a:r>
          </a:p>
          <a:p>
            <a:r>
              <a:rPr lang="en-IN" dirty="0"/>
              <a:t>✅ Task 3: Train Random Forest Model</a:t>
            </a:r>
          </a:p>
          <a:p>
            <a:r>
              <a:rPr lang="en-US" b="1" dirty="0"/>
              <a:t>✅ Task 4: Generate Predictions</a:t>
            </a:r>
          </a:p>
          <a:p>
            <a:r>
              <a:rPr lang="en-US" dirty="0"/>
              <a:t>Use trained model to predict job roles for test data</a:t>
            </a:r>
          </a:p>
          <a:p>
            <a:r>
              <a:rPr lang="en-US" dirty="0"/>
              <a:t>Store predicted job roles</a:t>
            </a:r>
          </a:p>
          <a:p>
            <a:r>
              <a:rPr lang="en-US" dirty="0"/>
              <a:t>📌 Output:</a:t>
            </a:r>
          </a:p>
          <a:p>
            <a:r>
              <a:rPr lang="en-US" dirty="0"/>
              <a:t>Predicted job roles list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✅ Task 5: Evaluate Model Performance</a:t>
            </a:r>
          </a:p>
          <a:p>
            <a:r>
              <a:rPr lang="en-US" dirty="0"/>
              <a:t>Evaluate the model using:</a:t>
            </a:r>
          </a:p>
          <a:p>
            <a:r>
              <a:rPr lang="en-US" b="1" dirty="0"/>
              <a:t>🔹 Accuracy Score</a:t>
            </a:r>
          </a:p>
          <a:p>
            <a:r>
              <a:rPr lang="en-US" dirty="0"/>
              <a:t>Check overall correctness of predictions</a:t>
            </a:r>
          </a:p>
          <a:p>
            <a:r>
              <a:rPr lang="en-US" b="1" dirty="0"/>
              <a:t>🔹 F1-Score</a:t>
            </a:r>
          </a:p>
          <a:p>
            <a:r>
              <a:rPr lang="en-US" dirty="0"/>
              <a:t>Measure balance between precision and recall</a:t>
            </a:r>
          </a:p>
          <a:p>
            <a:r>
              <a:rPr lang="en-US" dirty="0"/>
              <a:t>Use </a:t>
            </a:r>
            <a:r>
              <a:rPr lang="en-US" b="1" dirty="0"/>
              <a:t>weighted or macro F1-score</a:t>
            </a:r>
            <a:r>
              <a:rPr lang="en-US" dirty="0"/>
              <a:t> for multi-class job roles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75524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83219D-A367-EDDF-7044-C1B89AAFF2BC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6️⃣ Outcome of Day 6</a:t>
            </a:r>
          </a:p>
          <a:p>
            <a:pPr>
              <a:buNone/>
            </a:pPr>
            <a:r>
              <a:rPr lang="en-US" dirty="0"/>
              <a:t>By the end of Day 6:</a:t>
            </a:r>
          </a:p>
          <a:p>
            <a:pPr>
              <a:buNone/>
            </a:pPr>
            <a:r>
              <a:rPr lang="en-US" dirty="0"/>
              <a:t>✔ Model (Random Forest / </a:t>
            </a:r>
            <a:r>
              <a:rPr lang="en-US" dirty="0" err="1"/>
              <a:t>XGBoost</a:t>
            </a:r>
            <a:r>
              <a:rPr lang="en-US" dirty="0"/>
              <a:t>) is trained</a:t>
            </a:r>
            <a:br>
              <a:rPr lang="en-US" dirty="0"/>
            </a:br>
            <a:r>
              <a:rPr lang="en-US" dirty="0"/>
              <a:t>✔ Job role predictions are generated</a:t>
            </a:r>
            <a:br>
              <a:rPr lang="en-US" dirty="0"/>
            </a:br>
            <a:r>
              <a:rPr lang="en-US" dirty="0"/>
              <a:t>✔ Model performance is evaluated</a:t>
            </a:r>
            <a:br>
              <a:rPr lang="en-US" dirty="0"/>
            </a:br>
            <a:r>
              <a:rPr lang="en-US" dirty="0"/>
              <a:t>✔ Best model is selected for backend integration</a:t>
            </a:r>
          </a:p>
        </p:txBody>
      </p:sp>
    </p:spTree>
    <p:extLst>
      <p:ext uri="{BB962C8B-B14F-4D97-AF65-F5344CB8AC3E}">
        <p14:creationId xmlns:p14="http://schemas.microsoft.com/office/powerpoint/2010/main" val="26987701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30F10F-15F7-B65D-1AB6-C77B26AF304B}"/>
              </a:ext>
            </a:extLst>
          </p:cNvPr>
          <p:cNvSpPr txBox="1"/>
          <p:nvPr/>
        </p:nvSpPr>
        <p:spPr>
          <a:xfrm>
            <a:off x="3048000" y="28288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7 – Top Job Role Recommendation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top 3-5 roles instead of single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probability-based ranking.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 confidence score for each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28513340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BF342D-26AA-F894-1A1C-41AB2348B31E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📅 Day 7 – Top Job Role Recommendation</a:t>
            </a:r>
          </a:p>
          <a:p>
            <a:pPr>
              <a:buNone/>
            </a:pPr>
            <a:r>
              <a:rPr lang="en-US" b="1" dirty="0"/>
              <a:t>📝 Task (Milestone 3)</a:t>
            </a:r>
          </a:p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Enhance the trained ML model to </a:t>
            </a:r>
            <a:r>
              <a:rPr lang="en-US" b="1" dirty="0"/>
              <a:t>recommend Top 3–5 suitable job roles</a:t>
            </a:r>
            <a:r>
              <a:rPr lang="en-US" dirty="0"/>
              <a:t> instead of a single prediction, using </a:t>
            </a:r>
            <a:r>
              <a:rPr lang="en-US" b="1" dirty="0"/>
              <a:t>probability-based ranking</a:t>
            </a:r>
            <a:r>
              <a:rPr lang="en-US" dirty="0"/>
              <a:t> and </a:t>
            </a:r>
            <a:r>
              <a:rPr lang="en-US" b="1" dirty="0"/>
              <a:t>confidence scores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79492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02932D-9B3A-E13A-B2FA-7A82954BCB5F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Why Top Job Role Recommendation?</a:t>
            </a:r>
          </a:p>
          <a:p>
            <a:pPr>
              <a:buNone/>
            </a:pPr>
            <a:r>
              <a:rPr lang="en-US" dirty="0"/>
              <a:t>In real-world career guidance: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student can fit </a:t>
            </a:r>
            <a:r>
              <a:rPr lang="en-US" b="1" dirty="0"/>
              <a:t>multiple job roles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single prediction may be too rigid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Ranking roles gives </a:t>
            </a:r>
            <a:r>
              <a:rPr lang="en-US" b="1" dirty="0"/>
              <a:t>better career flexibility</a:t>
            </a:r>
            <a:endParaRPr lang="en-US" dirty="0"/>
          </a:p>
          <a:p>
            <a:pPr>
              <a:buNone/>
            </a:pPr>
            <a:r>
              <a:rPr lang="en-US" dirty="0"/>
              <a:t>👉 This improves </a:t>
            </a:r>
            <a:r>
              <a:rPr lang="en-US" b="1" dirty="0"/>
              <a:t>user experience</a:t>
            </a:r>
            <a:r>
              <a:rPr lang="en-US" dirty="0"/>
              <a:t> and </a:t>
            </a:r>
            <a:r>
              <a:rPr lang="en-US" b="1" dirty="0"/>
              <a:t>evaluation score</a:t>
            </a:r>
            <a:r>
              <a:rPr lang="en-US" dirty="0"/>
              <a:t> in Milestone 3.</a:t>
            </a:r>
          </a:p>
        </p:txBody>
      </p:sp>
    </p:spTree>
    <p:extLst>
      <p:ext uri="{BB962C8B-B14F-4D97-AF65-F5344CB8AC3E}">
        <p14:creationId xmlns:p14="http://schemas.microsoft.com/office/powerpoint/2010/main" val="421027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E4508B-7F01-20A0-B70F-7DFA28463273}"/>
              </a:ext>
            </a:extLst>
          </p:cNvPr>
          <p:cNvSpPr txBox="1"/>
          <p:nvPr/>
        </p:nvSpPr>
        <p:spPr>
          <a:xfrm>
            <a:off x="3048000" y="21385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Task 1: Use Probability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trained model’s </a:t>
            </a:r>
            <a:r>
              <a:rPr lang="en-US" b="1" dirty="0" err="1"/>
              <a:t>predict_proba</a:t>
            </a:r>
            <a:r>
              <a:rPr lang="en-US" b="1" dirty="0"/>
              <a:t>()</a:t>
            </a:r>
            <a:r>
              <a:rPr lang="en-US" dirty="0"/>
              <a:t>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returns probability scores for </a:t>
            </a:r>
            <a:r>
              <a:rPr lang="en-US" b="1" dirty="0"/>
              <a:t>all job roles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probability represents how well the profile matches that role</a:t>
            </a:r>
          </a:p>
          <a:p>
            <a:pPr>
              <a:buNone/>
            </a:pPr>
            <a:r>
              <a:rPr lang="en-US" dirty="0"/>
              <a:t>📌 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Data Scientist → 0.42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ML Engineer    → 0.28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Data Analyst  → 0.18</a:t>
            </a:r>
          </a:p>
        </p:txBody>
      </p:sp>
    </p:spTree>
    <p:extLst>
      <p:ext uri="{BB962C8B-B14F-4D97-AF65-F5344CB8AC3E}">
        <p14:creationId xmlns:p14="http://schemas.microsoft.com/office/powerpoint/2010/main" val="4443413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6411B2-6C1A-EEBA-04AF-1D4D8FF618CB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Task 2: Rank Job Roles by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Sort predicted job roles in </a:t>
            </a:r>
            <a:r>
              <a:rPr lang="en-US" b="1" dirty="0"/>
              <a:t>descending order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 </a:t>
            </a:r>
            <a:r>
              <a:rPr lang="en-US" b="1" dirty="0"/>
              <a:t>Top 3 to Top 5 roles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Ignore low-probability roles</a:t>
            </a:r>
          </a:p>
          <a:p>
            <a:pPr>
              <a:buNone/>
            </a:pPr>
            <a:r>
              <a:rPr lang="en-US" dirty="0"/>
              <a:t>📌 Output: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1. Data Scientist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2. ML Engineer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3. Data Analyst</a:t>
            </a:r>
          </a:p>
        </p:txBody>
      </p:sp>
    </p:spTree>
    <p:extLst>
      <p:ext uri="{BB962C8B-B14F-4D97-AF65-F5344CB8AC3E}">
        <p14:creationId xmlns:p14="http://schemas.microsoft.com/office/powerpoint/2010/main" val="17559283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2DC73C-6F70-BD5C-14A8-ECFFAB757E13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Task 3: Calculate Confidence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 probability values into </a:t>
            </a:r>
            <a:r>
              <a:rPr lang="en-IN" b="1" dirty="0"/>
              <a:t>percentage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Confidence Score = Probability × 100</a:t>
            </a:r>
          </a:p>
          <a:p>
            <a:pPr>
              <a:buNone/>
            </a:pPr>
            <a:r>
              <a:rPr lang="en-IN" dirty="0"/>
              <a:t>📌 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Data Scientist → 42%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ML Engineer → 28%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Data Analyst → 18%</a:t>
            </a:r>
          </a:p>
        </p:txBody>
      </p:sp>
    </p:spTree>
    <p:extLst>
      <p:ext uri="{BB962C8B-B14F-4D97-AF65-F5344CB8AC3E}">
        <p14:creationId xmlns:p14="http://schemas.microsoft.com/office/powerpoint/2010/main" val="28999447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E36911-E74A-577C-D931-C3271995CEEB}"/>
              </a:ext>
            </a:extLst>
          </p:cNvPr>
          <p:cNvSpPr txBox="1"/>
          <p:nvPr/>
        </p:nvSpPr>
        <p:spPr>
          <a:xfrm>
            <a:off x="3048000" y="172301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Task 4: Return Recommendation Response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Return job role list along with 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Structure output for frontend display</a:t>
            </a:r>
          </a:p>
          <a:p>
            <a:pPr>
              <a:buNone/>
            </a:pPr>
            <a:r>
              <a:rPr lang="en-IN" dirty="0"/>
              <a:t>📌 Sample Response Format: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{ role: "Data Scientist", confidence: "42%" 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{ role: "ML Engineer", confidence: "28%" 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{ role: "Data Analyst", confidence: "18%"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295971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860EC8-4164-C9D9-C7AA-2DC324FEFED4}"/>
              </a:ext>
            </a:extLst>
          </p:cNvPr>
          <p:cNvSpPr txBox="1"/>
          <p:nvPr/>
        </p:nvSpPr>
        <p:spPr>
          <a:xfrm>
            <a:off x="3048000" y="18615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6️⃣ Task 5: Save Prediction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Input education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Recommended job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Confidence scores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Timestamp</a:t>
            </a:r>
          </a:p>
          <a:p>
            <a:pPr>
              <a:buNone/>
            </a:pPr>
            <a:r>
              <a:rPr lang="en-US" dirty="0"/>
              <a:t>📌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Milestone evaluation proof</a:t>
            </a:r>
          </a:p>
        </p:txBody>
      </p:sp>
    </p:spTree>
    <p:extLst>
      <p:ext uri="{BB962C8B-B14F-4D97-AF65-F5344CB8AC3E}">
        <p14:creationId xmlns:p14="http://schemas.microsoft.com/office/powerpoint/2010/main" val="16012100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FC6CB-A4FE-E7C6-75DA-83B552F9E709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📊 Expected Deliverables (Day 7)</a:t>
            </a:r>
          </a:p>
          <a:p>
            <a:pPr>
              <a:buNone/>
            </a:pPr>
            <a:r>
              <a:rPr lang="en-US" dirty="0"/>
              <a:t>✔ Top 3–5 job roles generated</a:t>
            </a:r>
            <a:br>
              <a:rPr lang="en-US" dirty="0"/>
            </a:br>
            <a:r>
              <a:rPr lang="en-US" dirty="0"/>
              <a:t>✔ Probability-based ranking implemented</a:t>
            </a:r>
            <a:br>
              <a:rPr lang="en-US" dirty="0"/>
            </a:br>
            <a:r>
              <a:rPr lang="en-US" dirty="0"/>
              <a:t>✔ Confidence score shown for each role</a:t>
            </a:r>
            <a:br>
              <a:rPr lang="en-US" dirty="0"/>
            </a:br>
            <a:r>
              <a:rPr lang="en-US" dirty="0"/>
              <a:t>✔ Prediction history saved</a:t>
            </a:r>
          </a:p>
        </p:txBody>
      </p:sp>
    </p:spTree>
    <p:extLst>
      <p:ext uri="{BB962C8B-B14F-4D97-AF65-F5344CB8AC3E}">
        <p14:creationId xmlns:p14="http://schemas.microsoft.com/office/powerpoint/2010/main" val="41906746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1BA828-32F2-B05B-E2B3-11432E34EF67}"/>
              </a:ext>
            </a:extLst>
          </p:cNvPr>
          <p:cNvSpPr txBox="1"/>
          <p:nvPr/>
        </p:nvSpPr>
        <p:spPr>
          <a:xfrm>
            <a:off x="3048000" y="28310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8 – Backend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API to send input → get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Endpoint: </a:t>
            </a:r>
            <a:r>
              <a:rPr lang="en-US" dirty="0">
                <a:latin typeface="Courier New" panose="02070309020205020404" pitchFamily="49" charset="0"/>
              </a:rPr>
              <a:t>/predict-job-role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JSON response with roles +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6096959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F849F5-BDDD-41DA-D8E9-61B226452FEC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Integrate the trained ML model with the backend by creating an API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Accepts user education details as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Sends data to the ML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Returns </a:t>
            </a:r>
            <a:r>
              <a:rPr lang="en-US" b="1" dirty="0"/>
              <a:t>Top 3–5 job role recommendations with probabilities</a:t>
            </a:r>
            <a:r>
              <a:rPr lang="en-US" dirty="0"/>
              <a:t> in JSON format</a:t>
            </a:r>
          </a:p>
        </p:txBody>
      </p:sp>
    </p:spTree>
    <p:extLst>
      <p:ext uri="{BB962C8B-B14F-4D97-AF65-F5344CB8AC3E}">
        <p14:creationId xmlns:p14="http://schemas.microsoft.com/office/powerpoint/2010/main" val="11644843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282E09-82C8-91CE-1E9D-E8952F99A7B3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API Overview</a:t>
            </a:r>
          </a:p>
          <a:p>
            <a:pPr>
              <a:buNone/>
            </a:pPr>
            <a:r>
              <a:rPr lang="en-US" b="1" dirty="0"/>
              <a:t>🔗 Endpoint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POST /predict-job-role</a:t>
            </a:r>
          </a:p>
          <a:p>
            <a:pPr>
              <a:buNone/>
            </a:pPr>
            <a:r>
              <a:rPr lang="en-US" b="1" dirty="0"/>
              <a:t>🔐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Authenticated users (JWT protected – optional for demo)</a:t>
            </a:r>
          </a:p>
        </p:txBody>
      </p:sp>
    </p:spTree>
    <p:extLst>
      <p:ext uri="{BB962C8B-B14F-4D97-AF65-F5344CB8AC3E}">
        <p14:creationId xmlns:p14="http://schemas.microsoft.com/office/powerpoint/2010/main" val="19953938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A3313B-435A-2735-B132-7645F21BCD26}"/>
              </a:ext>
            </a:extLst>
          </p:cNvPr>
          <p:cNvSpPr txBox="1"/>
          <p:nvPr/>
        </p:nvSpPr>
        <p:spPr>
          <a:xfrm>
            <a:off x="3048000" y="1723017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1: Design API Request Structure</a:t>
            </a:r>
          </a:p>
          <a:p>
            <a:pPr>
              <a:buNone/>
            </a:pPr>
            <a:r>
              <a:rPr lang="en-IN" b="1" dirty="0"/>
              <a:t>📥 Request Body (JSON)</a:t>
            </a:r>
          </a:p>
          <a:p>
            <a:pPr>
              <a:buNone/>
            </a:pPr>
            <a:r>
              <a:rPr lang="en-IN" dirty="0"/>
              <a:t>User sends education details from frontend form.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"degree": "</a:t>
            </a:r>
            <a:r>
              <a:rPr lang="en-IN" dirty="0" err="1">
                <a:latin typeface="Courier New" panose="02070309020205020404" pitchFamily="49" charset="0"/>
              </a:rPr>
              <a:t>B.Tech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"specialization": "Computer Science",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cgpa</a:t>
            </a:r>
            <a:r>
              <a:rPr lang="en-IN" dirty="0">
                <a:latin typeface="Courier New" panose="02070309020205020404" pitchFamily="49" charset="0"/>
              </a:rPr>
              <a:t>": 8.4,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"certifications": ["Python", "Machine Learning"]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📌 Input must follow </a:t>
            </a:r>
            <a:r>
              <a:rPr lang="en-IN" b="1" dirty="0"/>
              <a:t>same format &amp; encoding</a:t>
            </a:r>
            <a:r>
              <a:rPr lang="en-IN" dirty="0"/>
              <a:t> used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752321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2860E1-7B15-0B89-7B65-0FEDB34C6852}"/>
              </a:ext>
            </a:extLst>
          </p:cNvPr>
          <p:cNvSpPr txBox="1"/>
          <p:nvPr/>
        </p:nvSpPr>
        <p:spPr>
          <a:xfrm>
            <a:off x="3048000" y="18615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2: Backend Processing Flow</a:t>
            </a:r>
          </a:p>
          <a:p>
            <a:pPr>
              <a:buNone/>
            </a:pPr>
            <a:r>
              <a:rPr lang="en-US" dirty="0"/>
              <a:t>When API is called:</a:t>
            </a:r>
          </a:p>
          <a:p>
            <a:pPr>
              <a:buFont typeface="+mj-lt"/>
              <a:buAutoNum type="arabicPeriod"/>
            </a:pPr>
            <a:r>
              <a:rPr lang="en-US" dirty="0"/>
              <a:t>Receive input from frontend</a:t>
            </a:r>
          </a:p>
          <a:p>
            <a:pPr>
              <a:buFont typeface="+mj-lt"/>
              <a:buAutoNum type="arabicPeriod"/>
            </a:pPr>
            <a:r>
              <a:rPr lang="en-US" dirty="0"/>
              <a:t>Validate input fields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Label encoding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One-hot encoding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Feature scaling</a:t>
            </a:r>
          </a:p>
          <a:p>
            <a:pPr>
              <a:buFont typeface="+mj-lt"/>
              <a:buAutoNum type="arabicPeriod"/>
            </a:pPr>
            <a:r>
              <a:rPr lang="en-US" dirty="0"/>
              <a:t>Convert input into model-ready format</a:t>
            </a:r>
          </a:p>
          <a:p>
            <a:pPr>
              <a:buFont typeface="+mj-lt"/>
              <a:buAutoNum type="arabicPeriod"/>
            </a:pPr>
            <a:r>
              <a:rPr lang="en-US" dirty="0"/>
              <a:t>Pass data to trained ML model</a:t>
            </a:r>
          </a:p>
          <a:p>
            <a:pPr>
              <a:buFont typeface="+mj-lt"/>
              <a:buAutoNum type="arabicPeriod"/>
            </a:pPr>
            <a:r>
              <a:rPr lang="en-US" dirty="0"/>
              <a:t>Generate probability-based predictions</a:t>
            </a:r>
          </a:p>
        </p:txBody>
      </p:sp>
    </p:spTree>
    <p:extLst>
      <p:ext uri="{BB962C8B-B14F-4D97-AF65-F5344CB8AC3E}">
        <p14:creationId xmlns:p14="http://schemas.microsoft.com/office/powerpoint/2010/main" val="29571668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5895B-D99C-4943-C79A-C226E5AC22D1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4️⃣ 3: Call ML Model &amp; Get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dirty="0" err="1">
                <a:latin typeface="Courier New" panose="02070309020205020404" pitchFamily="49" charset="0"/>
              </a:rPr>
              <a:t>predict_proba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Extract probabilities for all job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Sort results in descending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Select </a:t>
            </a:r>
            <a:r>
              <a:rPr lang="en-IN" b="1" dirty="0"/>
              <a:t>Top 3–5 job roles</a:t>
            </a:r>
            <a:endParaRPr lang="en-IN" dirty="0"/>
          </a:p>
          <a:p>
            <a:pPr>
              <a:buNone/>
            </a:pPr>
            <a:r>
              <a:rPr lang="en-IN" dirty="0"/>
              <a:t>📌 Internal logic: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Model → Probabilities → Ranking → Top roles</a:t>
            </a:r>
          </a:p>
        </p:txBody>
      </p:sp>
    </p:spTree>
    <p:extLst>
      <p:ext uri="{BB962C8B-B14F-4D97-AF65-F5344CB8AC3E}">
        <p14:creationId xmlns:p14="http://schemas.microsoft.com/office/powerpoint/2010/main" val="26180909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79E3D0-726C-1D87-6629-2A7689DDCCAE}"/>
              </a:ext>
            </a:extLst>
          </p:cNvPr>
          <p:cNvSpPr txBox="1"/>
          <p:nvPr/>
        </p:nvSpPr>
        <p:spPr>
          <a:xfrm>
            <a:off x="3048000" y="615022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4: Create JSON Response</a:t>
            </a:r>
          </a:p>
          <a:p>
            <a:pPr>
              <a:buNone/>
            </a:pPr>
            <a:r>
              <a:rPr lang="en-IN" b="1" dirty="0"/>
              <a:t>📤 Response Format (JSON)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"status": "success",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"recommendations": 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job_role</a:t>
            </a:r>
            <a:r>
              <a:rPr lang="en-IN" dirty="0">
                <a:latin typeface="Courier New" panose="02070309020205020404" pitchFamily="49" charset="0"/>
              </a:rPr>
              <a:t>": "Data Scientist",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"confidence": 42.5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job_role</a:t>
            </a:r>
            <a:r>
              <a:rPr lang="en-IN" dirty="0">
                <a:latin typeface="Courier New" panose="02070309020205020404" pitchFamily="49" charset="0"/>
              </a:rPr>
              <a:t>": "ML Engineer",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"confidence": 28.3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job_role</a:t>
            </a:r>
            <a:r>
              <a:rPr lang="en-IN" dirty="0">
                <a:latin typeface="Courier New" panose="02070309020205020404" pitchFamily="49" charset="0"/>
              </a:rPr>
              <a:t>": "Data Analyst",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"confidence": 17.9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📌 Confidence = Probability × 100</a:t>
            </a:r>
          </a:p>
        </p:txBody>
      </p:sp>
    </p:spTree>
    <p:extLst>
      <p:ext uri="{BB962C8B-B14F-4D97-AF65-F5344CB8AC3E}">
        <p14:creationId xmlns:p14="http://schemas.microsoft.com/office/powerpoint/2010/main" val="12329736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7402C2-03C4-36F3-D610-C693ADCACEF7}"/>
              </a:ext>
            </a:extLst>
          </p:cNvPr>
          <p:cNvSpPr txBox="1"/>
          <p:nvPr/>
        </p:nvSpPr>
        <p:spPr>
          <a:xfrm>
            <a:off x="3048000" y="172301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6️⃣  5: Save Prediction History (Optional but Recommended)</a:t>
            </a:r>
          </a:p>
          <a:p>
            <a:pPr>
              <a:buNone/>
            </a:pPr>
            <a:r>
              <a:rPr lang="en-US" dirty="0"/>
              <a:t>Store in database: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education details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Predicted job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Timestamp</a:t>
            </a:r>
          </a:p>
          <a:p>
            <a:pPr>
              <a:buNone/>
            </a:pPr>
            <a:r>
              <a:rPr lang="en-US" dirty="0"/>
              <a:t>📌 Used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history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Milestone proof</a:t>
            </a:r>
          </a:p>
        </p:txBody>
      </p:sp>
    </p:spTree>
    <p:extLst>
      <p:ext uri="{BB962C8B-B14F-4D97-AF65-F5344CB8AC3E}">
        <p14:creationId xmlns:p14="http://schemas.microsoft.com/office/powerpoint/2010/main" val="36960511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B796DD-96CF-6A72-1AB4-6A45B6B05675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📊 Expected Deliverables (Day 8)</a:t>
            </a:r>
          </a:p>
          <a:p>
            <a:pPr>
              <a:buNone/>
            </a:pPr>
            <a:r>
              <a:rPr lang="en-US" dirty="0"/>
              <a:t>✔ Working backend API </a:t>
            </a:r>
            <a:r>
              <a:rPr lang="en-US" dirty="0">
                <a:latin typeface="Courier New" panose="02070309020205020404" pitchFamily="49" charset="0"/>
              </a:rPr>
              <a:t>/predict-job-role</a:t>
            </a:r>
            <a:br>
              <a:rPr lang="en-US" dirty="0"/>
            </a:br>
            <a:r>
              <a:rPr lang="en-US" dirty="0"/>
              <a:t>✔ JSON response with top job roles</a:t>
            </a:r>
            <a:br>
              <a:rPr lang="en-US" dirty="0"/>
            </a:br>
            <a:r>
              <a:rPr lang="en-US" dirty="0"/>
              <a:t>✔ Probability-based confidence scores</a:t>
            </a:r>
            <a:br>
              <a:rPr lang="en-US" dirty="0"/>
            </a:br>
            <a:r>
              <a:rPr lang="en-US" dirty="0"/>
              <a:t>✔ Integrated ML model</a:t>
            </a:r>
          </a:p>
        </p:txBody>
      </p:sp>
    </p:spTree>
    <p:extLst>
      <p:ext uri="{BB962C8B-B14F-4D97-AF65-F5344CB8AC3E}">
        <p14:creationId xmlns:p14="http://schemas.microsoft.com/office/powerpoint/2010/main" val="17300932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2CE560-AA47-CB60-CEDD-42A7B0510882}"/>
              </a:ext>
            </a:extLst>
          </p:cNvPr>
          <p:cNvSpPr txBox="1"/>
          <p:nvPr/>
        </p:nvSpPr>
        <p:spPr>
          <a:xfrm>
            <a:off x="3048000" y="24155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9 – UI / Result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connects to prediction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output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Recommended Job Role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Alternative Careers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Confidence Score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 history to profile.</a:t>
            </a:r>
          </a:p>
        </p:txBody>
      </p:sp>
    </p:spTree>
    <p:extLst>
      <p:ext uri="{BB962C8B-B14F-4D97-AF65-F5344CB8AC3E}">
        <p14:creationId xmlns:p14="http://schemas.microsoft.com/office/powerpoint/2010/main" val="20322513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9B823B-583E-A3D4-699F-0EB6AF6D1C7D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Connect the </a:t>
            </a:r>
            <a:r>
              <a:rPr lang="en-US" b="1" dirty="0"/>
              <a:t>frontend</a:t>
            </a:r>
            <a:r>
              <a:rPr lang="en-US" dirty="0"/>
              <a:t> with the </a:t>
            </a:r>
            <a:r>
              <a:rPr lang="en-US" b="1" dirty="0"/>
              <a:t>prediction API</a:t>
            </a:r>
            <a:r>
              <a:rPr lang="en-US" dirty="0"/>
              <a:t> and visually display the </a:t>
            </a:r>
            <a:r>
              <a:rPr lang="en-US" b="1" dirty="0"/>
              <a:t>job role recommendations</a:t>
            </a:r>
            <a:r>
              <a:rPr lang="en-US" dirty="0"/>
              <a:t> in a user-friendly way.</a:t>
            </a:r>
          </a:p>
          <a:p>
            <a:pPr>
              <a:buNone/>
            </a:pPr>
            <a:r>
              <a:rPr lang="en-US" dirty="0"/>
              <a:t>On this day, students learn how: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sends user education details to backend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returns predicted job roles with 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UI displays results clearly for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Prediction history is saved in user profile</a:t>
            </a:r>
          </a:p>
        </p:txBody>
      </p:sp>
    </p:spTree>
    <p:extLst>
      <p:ext uri="{BB962C8B-B14F-4D97-AF65-F5344CB8AC3E}">
        <p14:creationId xmlns:p14="http://schemas.microsoft.com/office/powerpoint/2010/main" val="5564657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FDABA8-10E0-274E-66ED-F0199C133CBC}"/>
              </a:ext>
            </a:extLst>
          </p:cNvPr>
          <p:cNvSpPr txBox="1"/>
          <p:nvPr/>
        </p:nvSpPr>
        <p:spPr>
          <a:xfrm>
            <a:off x="3048000" y="255401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Frontend–Backend 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User fills education details form</a:t>
            </a:r>
          </a:p>
          <a:p>
            <a:pPr>
              <a:buFont typeface="+mj-lt"/>
              <a:buAutoNum type="arabicPeriod"/>
            </a:pPr>
            <a:r>
              <a:rPr lang="en-US" dirty="0"/>
              <a:t>Frontend calls </a:t>
            </a:r>
            <a:r>
              <a:rPr lang="en-US" dirty="0">
                <a:latin typeface="Courier New" panose="02070309020205020404" pitchFamily="49" charset="0"/>
              </a:rPr>
              <a:t>/predict-job-role</a:t>
            </a:r>
            <a:r>
              <a:rPr lang="en-US" dirty="0"/>
              <a:t> API</a:t>
            </a:r>
          </a:p>
          <a:p>
            <a:pPr>
              <a:buFont typeface="+mj-lt"/>
              <a:buAutoNum type="arabicPeriod"/>
            </a:pPr>
            <a:r>
              <a:rPr lang="en-US" dirty="0"/>
              <a:t>Backend returns JSON response</a:t>
            </a:r>
          </a:p>
          <a:p>
            <a:pPr>
              <a:buFont typeface="+mj-lt"/>
              <a:buAutoNum type="arabicPeriod"/>
            </a:pPr>
            <a:r>
              <a:rPr lang="en-US" dirty="0"/>
              <a:t>UI displays prediction results</a:t>
            </a:r>
          </a:p>
          <a:p>
            <a:pPr>
              <a:buFont typeface="+mj-lt"/>
              <a:buAutoNum type="arabicPeriod"/>
            </a:pPr>
            <a:r>
              <a:rPr lang="en-US" dirty="0"/>
              <a:t>Results are saved to user history</a:t>
            </a:r>
          </a:p>
        </p:txBody>
      </p:sp>
    </p:spTree>
    <p:extLst>
      <p:ext uri="{BB962C8B-B14F-4D97-AF65-F5344CB8AC3E}">
        <p14:creationId xmlns:p14="http://schemas.microsoft.com/office/powerpoint/2010/main" val="21726772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680F38-7039-9502-5413-237CE22941F5}"/>
              </a:ext>
            </a:extLst>
          </p:cNvPr>
          <p:cNvSpPr txBox="1"/>
          <p:nvPr/>
        </p:nvSpPr>
        <p:spPr>
          <a:xfrm>
            <a:off x="3048000" y="144601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What to Display on UI</a:t>
            </a:r>
          </a:p>
          <a:p>
            <a:pPr>
              <a:buNone/>
            </a:pPr>
            <a:r>
              <a:rPr lang="en-US" dirty="0"/>
              <a:t>The output screen should show:</a:t>
            </a:r>
          </a:p>
          <a:p>
            <a:pPr>
              <a:buNone/>
            </a:pPr>
            <a:r>
              <a:rPr lang="en-US" b="1" dirty="0"/>
              <a:t>✅ Recommended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predicted job role (highest confidence)</a:t>
            </a:r>
          </a:p>
          <a:p>
            <a:pPr>
              <a:buNone/>
            </a:pPr>
            <a:r>
              <a:rPr lang="en-US" b="1" dirty="0"/>
              <a:t>✅ Alternative Careers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2–4 additional suitable job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Shown as secondary options</a:t>
            </a:r>
          </a:p>
          <a:p>
            <a:pPr>
              <a:buNone/>
            </a:pPr>
            <a:r>
              <a:rPr lang="en-US" b="1" dirty="0"/>
              <a:t>✅ Confidence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Percentage value for each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user understand prediction strength</a:t>
            </a:r>
          </a:p>
          <a:p>
            <a:pPr>
              <a:buNone/>
            </a:pPr>
            <a:r>
              <a:rPr lang="en-US" dirty="0"/>
              <a:t>📌 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Data Scientist – 42%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ML Engineer – 28%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Data Analyst – 18%</a:t>
            </a:r>
          </a:p>
        </p:txBody>
      </p:sp>
    </p:spTree>
    <p:extLst>
      <p:ext uri="{BB962C8B-B14F-4D97-AF65-F5344CB8AC3E}">
        <p14:creationId xmlns:p14="http://schemas.microsoft.com/office/powerpoint/2010/main" val="68639313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415399-151C-C22F-D731-8DFCED4B92F5}"/>
              </a:ext>
            </a:extLst>
          </p:cNvPr>
          <p:cNvSpPr txBox="1"/>
          <p:nvPr/>
        </p:nvSpPr>
        <p:spPr>
          <a:xfrm>
            <a:off x="3048000" y="116902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Task 1: Connect Frontend to Prediction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fetch / </a:t>
            </a:r>
            <a:r>
              <a:rPr lang="en-US" dirty="0" err="1"/>
              <a:t>axios</a:t>
            </a:r>
            <a:r>
              <a:rPr lang="en-US" dirty="0"/>
              <a:t> to call: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POST /predict-job-role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 education details as request body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Handle success and error responses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✅ Task 2: Display Prediction Results on UI</a:t>
            </a:r>
          </a:p>
          <a:p>
            <a:pPr>
              <a:buNone/>
            </a:pPr>
            <a:r>
              <a:rPr lang="en-US" dirty="0"/>
              <a:t>Create a result section that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🔹 Top Recommended Job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🔹 Alternative Careers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🔹 Confidence score for each role</a:t>
            </a:r>
          </a:p>
          <a:p>
            <a:pPr>
              <a:buNone/>
            </a:pPr>
            <a:r>
              <a:rPr lang="en-US" dirty="0"/>
              <a:t>📌 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Progress bars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Percentage text</a:t>
            </a:r>
          </a:p>
        </p:txBody>
      </p:sp>
    </p:spTree>
    <p:extLst>
      <p:ext uri="{BB962C8B-B14F-4D97-AF65-F5344CB8AC3E}">
        <p14:creationId xmlns:p14="http://schemas.microsoft.com/office/powerpoint/2010/main" val="21235631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56586B-423E-D0CA-EF1F-E940DF40F018}"/>
              </a:ext>
            </a:extLst>
          </p:cNvPr>
          <p:cNvSpPr txBox="1"/>
          <p:nvPr/>
        </p:nvSpPr>
        <p:spPr>
          <a:xfrm>
            <a:off x="3048000" y="1584518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Task 3: Save Prediction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prediction result in user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Input details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Recommended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Confidence scores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Date &amp; time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✅ Task 4: UI Enhancements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Loading indicator while prediction is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 message if API fails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 layout with headings and icons</a:t>
            </a:r>
          </a:p>
        </p:txBody>
      </p:sp>
    </p:spTree>
    <p:extLst>
      <p:ext uri="{BB962C8B-B14F-4D97-AF65-F5344CB8AC3E}">
        <p14:creationId xmlns:p14="http://schemas.microsoft.com/office/powerpoint/2010/main" val="183264331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FED5A-4C7C-66DC-1F9F-86C75F4FF4E3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📊 Expected Deliverables (Day 9)</a:t>
            </a:r>
          </a:p>
          <a:p>
            <a:pPr>
              <a:buNone/>
            </a:pPr>
            <a:r>
              <a:rPr lang="en-US" dirty="0"/>
              <a:t>✔ Frontend successfully calls backend API</a:t>
            </a:r>
            <a:br>
              <a:rPr lang="en-US" dirty="0"/>
            </a:br>
            <a:r>
              <a:rPr lang="en-US" dirty="0"/>
              <a:t>✔ Prediction results displayed clearly</a:t>
            </a:r>
            <a:br>
              <a:rPr lang="en-US" dirty="0"/>
            </a:br>
            <a:r>
              <a:rPr lang="en-US" dirty="0"/>
              <a:t>✔ Confidence scores visible</a:t>
            </a:r>
            <a:br>
              <a:rPr lang="en-US" dirty="0"/>
            </a:br>
            <a:r>
              <a:rPr lang="en-US" dirty="0"/>
              <a:t>✔ Prediction history saved to profile</a:t>
            </a:r>
          </a:p>
        </p:txBody>
      </p:sp>
    </p:spTree>
    <p:extLst>
      <p:ext uri="{BB962C8B-B14F-4D97-AF65-F5344CB8AC3E}">
        <p14:creationId xmlns:p14="http://schemas.microsoft.com/office/powerpoint/2010/main" val="41197189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D7BA7-B8C7-173F-59CB-B596C7D2EBA9}"/>
              </a:ext>
            </a:extLst>
          </p:cNvPr>
          <p:cNvSpPr txBox="1"/>
          <p:nvPr/>
        </p:nvSpPr>
        <p:spPr>
          <a:xfrm>
            <a:off x="3048000" y="283101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Day 10 – Final Model Review +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with different student profiles.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Improving accuracy with hyperparameter 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milestone demonstration +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0205823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922E14-A06F-4090-74E8-4E3C62301403}"/>
              </a:ext>
            </a:extLst>
          </p:cNvPr>
          <p:cNvSpPr txBox="1"/>
          <p:nvPr/>
        </p:nvSpPr>
        <p:spPr>
          <a:xfrm>
            <a:off x="3048000" y="200001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Day 10 focuses on </a:t>
            </a:r>
            <a:r>
              <a:rPr lang="en-US" b="1" dirty="0"/>
              <a:t>validating the complete system</a:t>
            </a:r>
            <a:r>
              <a:rPr lang="en-US" dirty="0"/>
              <a:t>, improving model performance, and preparing for </a:t>
            </a:r>
            <a:r>
              <a:rPr lang="en-US" b="1" dirty="0"/>
              <a:t>final Milestone 3 demonstration and evaluation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By this stage: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ML model is trained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API is integrated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displays predictions</a:t>
            </a:r>
          </a:p>
          <a:p>
            <a:pPr>
              <a:buNone/>
            </a:pPr>
            <a:r>
              <a:rPr lang="en-US" dirty="0"/>
              <a:t>Now we ensure the system works </a:t>
            </a:r>
            <a:r>
              <a:rPr lang="en-US" b="1" dirty="0"/>
              <a:t>accurately, reliably, and end-to-end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43611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F9516-5A72-5697-C36C-6B5E227D8D12}"/>
              </a:ext>
            </a:extLst>
          </p:cNvPr>
          <p:cNvSpPr txBox="1"/>
          <p:nvPr/>
        </p:nvSpPr>
        <p:spPr>
          <a:xfrm>
            <a:off x="3048000" y="1307519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🔹 What Happens on Day 10?</a:t>
            </a:r>
          </a:p>
          <a:p>
            <a:pPr>
              <a:buNone/>
            </a:pPr>
            <a:r>
              <a:rPr lang="en-IN" b="1" dirty="0"/>
              <a:t>1️⃣ Testing with Different Student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Test the system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degrees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Different specializations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Low, average, and high CGPA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Varying skill combinations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Verify: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Predictions are logical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Top job role changes with input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Confidence scores are reasonable</a:t>
            </a:r>
          </a:p>
          <a:p>
            <a:pPr>
              <a:buNone/>
            </a:pPr>
            <a:r>
              <a:rPr lang="en-IN" dirty="0"/>
              <a:t>📌 Example test cases: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B.Tech</a:t>
            </a:r>
            <a:r>
              <a:rPr lang="en-IN" dirty="0"/>
              <a:t> CSE, CGPA 9.0 → Software/Data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B.Sc</a:t>
            </a:r>
            <a:r>
              <a:rPr lang="en-IN" dirty="0"/>
              <a:t>, Statistics, CGPA 7.5 → Analyst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MBA, Marketing → Business roles</a:t>
            </a:r>
          </a:p>
        </p:txBody>
      </p:sp>
    </p:spTree>
    <p:extLst>
      <p:ext uri="{BB962C8B-B14F-4D97-AF65-F5344CB8AC3E}">
        <p14:creationId xmlns:p14="http://schemas.microsoft.com/office/powerpoint/2010/main" val="5173724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DA17DA-184B-1B8D-E467-FCE75C4D7D7F}"/>
              </a:ext>
            </a:extLst>
          </p:cNvPr>
          <p:cNvSpPr txBox="1"/>
          <p:nvPr/>
        </p:nvSpPr>
        <p:spPr>
          <a:xfrm>
            <a:off x="3048000" y="1446018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2️⃣ Improving Accuracy using Hyperparameter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Adjust model parameters to improve performance</a:t>
            </a:r>
          </a:p>
          <a:p>
            <a:pPr>
              <a:buNone/>
            </a:pPr>
            <a:r>
              <a:rPr lang="en-IN" b="1" dirty="0"/>
              <a:t>🔹 Random Forest Tuning 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Number of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Tree depth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Minimum samples split</a:t>
            </a:r>
          </a:p>
          <a:p>
            <a:pPr>
              <a:buNone/>
            </a:pPr>
            <a:r>
              <a:rPr lang="en-IN" b="1" dirty="0"/>
              <a:t>🔹 </a:t>
            </a:r>
            <a:r>
              <a:rPr lang="en-IN" b="1" dirty="0" err="1"/>
              <a:t>XGBoost</a:t>
            </a:r>
            <a:r>
              <a:rPr lang="en-IN" b="1" dirty="0"/>
              <a:t> (if used):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Learning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Number of estimators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Max depth</a:t>
            </a:r>
          </a:p>
          <a:p>
            <a:pPr>
              <a:buNone/>
            </a:pPr>
            <a:r>
              <a:rPr lang="en-IN" dirty="0"/>
              <a:t>📌 Goal: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Increase </a:t>
            </a:r>
            <a:r>
              <a:rPr lang="en-IN" b="1" dirty="0"/>
              <a:t>Accuracy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 </a:t>
            </a:r>
            <a:r>
              <a:rPr lang="en-IN" b="1" dirty="0"/>
              <a:t>F1-score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Reduce wrong predictions</a:t>
            </a:r>
          </a:p>
        </p:txBody>
      </p:sp>
    </p:spTree>
    <p:extLst>
      <p:ext uri="{BB962C8B-B14F-4D97-AF65-F5344CB8AC3E}">
        <p14:creationId xmlns:p14="http://schemas.microsoft.com/office/powerpoint/2010/main" val="8973491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512E82-D5E7-6C2E-52A8-03E2F2008B5B}"/>
              </a:ext>
            </a:extLst>
          </p:cNvPr>
          <p:cNvSpPr txBox="1"/>
          <p:nvPr/>
        </p:nvSpPr>
        <p:spPr>
          <a:xfrm>
            <a:off x="3048000" y="116902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3️⃣ Final Model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Base model vs tuned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Choose the best-performing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Save final model for production use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4️⃣ Final Milestone Demonstration</a:t>
            </a:r>
          </a:p>
          <a:p>
            <a:pPr>
              <a:buNone/>
            </a:pPr>
            <a:r>
              <a:rPr lang="en-IN" dirty="0"/>
              <a:t>During demo: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UI input form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Enter sample student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Recommended job roles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Alternative careers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Confidence scores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prediction history saved</a:t>
            </a:r>
          </a:p>
        </p:txBody>
      </p:sp>
    </p:spTree>
    <p:extLst>
      <p:ext uri="{BB962C8B-B14F-4D97-AF65-F5344CB8AC3E}">
        <p14:creationId xmlns:p14="http://schemas.microsoft.com/office/powerpoint/2010/main" val="27780862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EA2D2B-D07D-2C71-D942-B8074791C6C7}"/>
              </a:ext>
            </a:extLst>
          </p:cNvPr>
          <p:cNvSpPr txBox="1"/>
          <p:nvPr/>
        </p:nvSpPr>
        <p:spPr>
          <a:xfrm>
            <a:off x="3048000" y="227701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5️⃣ Documentation Preparation</a:t>
            </a:r>
          </a:p>
          <a:p>
            <a:pPr>
              <a:buNone/>
            </a:pPr>
            <a:r>
              <a:rPr lang="en-US" dirty="0"/>
              <a:t>Document: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Preprocessing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Screenshots of UI &amp; results</a:t>
            </a:r>
          </a:p>
          <a:p>
            <a:pPr>
              <a:buNone/>
            </a:pPr>
            <a:r>
              <a:rPr lang="en-US" dirty="0"/>
              <a:t>📌 This acts as </a:t>
            </a:r>
            <a:r>
              <a:rPr lang="en-US" b="1" dirty="0"/>
              <a:t>proof of work</a:t>
            </a:r>
            <a:r>
              <a:rPr lang="en-US" dirty="0"/>
              <a:t> for Milestone 3.</a:t>
            </a:r>
          </a:p>
        </p:txBody>
      </p:sp>
    </p:spTree>
    <p:extLst>
      <p:ext uri="{BB962C8B-B14F-4D97-AF65-F5344CB8AC3E}">
        <p14:creationId xmlns:p14="http://schemas.microsoft.com/office/powerpoint/2010/main" val="17381667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ECB1A3-473D-821F-5A33-B1AA657D46CC}"/>
              </a:ext>
            </a:extLst>
          </p:cNvPr>
          <p:cNvSpPr txBox="1"/>
          <p:nvPr/>
        </p:nvSpPr>
        <p:spPr>
          <a:xfrm>
            <a:off x="3048000" y="61024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📝 Day 10 – Task</a:t>
            </a:r>
          </a:p>
          <a:p>
            <a:pPr>
              <a:buNone/>
            </a:pPr>
            <a:r>
              <a:rPr lang="en-IN" b="1" dirty="0"/>
              <a:t>✅ Task 1: Test Multiple Student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5–10 test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Validate prediction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Note any incorrect predictions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✅ Task 2: Apply Hyperparameter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Tune Random Forest / </a:t>
            </a:r>
            <a:r>
              <a:rPr lang="en-IN" dirty="0" err="1"/>
              <a:t>XGBoost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Re-evaluate accuracy &amp; F1-score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Select best parameters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✅ Task 3: Final Model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Record: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F1-score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confusion matrix (optional)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✅ Task 4: Final Demo Preparation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Prepare live demo 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sample inputs ready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Explain model decisions clearly</a:t>
            </a:r>
          </a:p>
        </p:txBody>
      </p:sp>
    </p:spTree>
    <p:extLst>
      <p:ext uri="{BB962C8B-B14F-4D97-AF65-F5344CB8AC3E}">
        <p14:creationId xmlns:p14="http://schemas.microsoft.com/office/powerpoint/2010/main" val="4163020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white and black list&#10;&#10;AI-generated content may be incorrect.">
            <a:extLst>
              <a:ext uri="{FF2B5EF4-FFF2-40B4-BE49-F238E27FC236}">
                <a16:creationId xmlns:a16="http://schemas.microsoft.com/office/drawing/2014/main" id="{BFE70EF7-E06B-89DD-2913-CF935C0E7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1347497"/>
            <a:ext cx="9135750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58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525B1F-8483-44E5-0021-84FAD40E8161}"/>
              </a:ext>
            </a:extLst>
          </p:cNvPr>
          <p:cNvSpPr txBox="1"/>
          <p:nvPr/>
        </p:nvSpPr>
        <p:spPr>
          <a:xfrm>
            <a:off x="3048000" y="269251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Milestone 3: Weeks 6–7 Module 3: Job Role Prediction </a:t>
            </a:r>
          </a:p>
          <a:p>
            <a:r>
              <a:rPr lang="en-US" dirty="0"/>
              <a:t>• Integrate trained ML model (e.g., Random Forest, </a:t>
            </a:r>
            <a:r>
              <a:rPr lang="en-US" dirty="0" err="1"/>
              <a:t>XGBoost</a:t>
            </a:r>
            <a:r>
              <a:rPr lang="en-US" dirty="0"/>
              <a:t>). </a:t>
            </a:r>
          </a:p>
          <a:p>
            <a:r>
              <a:rPr lang="en-US" dirty="0"/>
              <a:t>• Backend API to return predictions with confidence scores. </a:t>
            </a:r>
          </a:p>
          <a:p>
            <a:r>
              <a:rPr lang="en-US" dirty="0"/>
              <a:t>• Display top job suggestions with explanation/justification. </a:t>
            </a:r>
          </a:p>
          <a:p>
            <a:r>
              <a:rPr lang="en-US" dirty="0"/>
              <a:t>• Save result to user history.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53891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05F941-1CF9-B983-D0E0-0DF27283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90" y="1414181"/>
            <a:ext cx="6773220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4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D42A72-127F-A349-730D-2C0433AD40EC}"/>
              </a:ext>
            </a:extLst>
          </p:cNvPr>
          <p:cNvSpPr txBox="1"/>
          <p:nvPr/>
        </p:nvSpPr>
        <p:spPr>
          <a:xfrm>
            <a:off x="3048000" y="28288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Milestone 3 Evaluation (Week 7): </a:t>
            </a:r>
          </a:p>
          <a:p>
            <a:r>
              <a:rPr lang="en-US" dirty="0"/>
              <a:t>• Model predictions are integrated and working with real input data. </a:t>
            </a:r>
          </a:p>
          <a:p>
            <a:r>
              <a:rPr lang="en-US" dirty="0"/>
              <a:t>• Output shows top roles with confidence and justification. </a:t>
            </a:r>
          </a:p>
          <a:p>
            <a:r>
              <a:rPr lang="en-US" dirty="0"/>
              <a:t>• Prediction history is saved and accessible.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65735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1779</TotalTime>
  <Words>4649</Words>
  <Application>Microsoft Office PowerPoint</Application>
  <PresentationFormat>Widescreen</PresentationFormat>
  <Paragraphs>730</Paragraphs>
  <Slides>99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4" baseType="lpstr">
      <vt:lpstr>Arial</vt:lpstr>
      <vt:lpstr>Cambria Math</vt:lpstr>
      <vt:lpstr>Courier New</vt:lpstr>
      <vt:lpstr>Tw Cen MT</vt:lpstr>
      <vt:lpstr>Droplet</vt:lpstr>
      <vt:lpstr>MILESTONE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Yuvaraj</dc:creator>
  <cp:lastModifiedBy>Pavithra Yuvaraj</cp:lastModifiedBy>
  <cp:revision>2</cp:revision>
  <dcterms:created xsi:type="dcterms:W3CDTF">2025-12-09T16:31:02Z</dcterms:created>
  <dcterms:modified xsi:type="dcterms:W3CDTF">2025-12-15T16:15:50Z</dcterms:modified>
</cp:coreProperties>
</file>