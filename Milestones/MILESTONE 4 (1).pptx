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58" r:id="rId11"/>
    <p:sldId id="277" r:id="rId12"/>
    <p:sldId id="278" r:id="rId13"/>
    <p:sldId id="279" r:id="rId14"/>
    <p:sldId id="280" r:id="rId15"/>
    <p:sldId id="281" r:id="rId16"/>
    <p:sldId id="282" r:id="rId17"/>
    <p:sldId id="259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60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61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262" r:id="rId42"/>
    <p:sldId id="304" r:id="rId43"/>
    <p:sldId id="305" r:id="rId44"/>
    <p:sldId id="306" r:id="rId45"/>
    <p:sldId id="307" r:id="rId46"/>
    <p:sldId id="308" r:id="rId47"/>
    <p:sldId id="309" r:id="rId48"/>
    <p:sldId id="263" r:id="rId49"/>
    <p:sldId id="264" r:id="rId50"/>
    <p:sldId id="265" r:id="rId51"/>
    <p:sldId id="266" r:id="rId52"/>
    <p:sldId id="267" r:id="rId53"/>
    <p:sldId id="268" r:id="rId54"/>
    <p:sldId id="269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84" y="-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305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09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69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38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74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770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06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862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16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61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40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5150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172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926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035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762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1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37F9AF-8A7E-408D-8BC0-D0C6E7DF3CF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487943C-A6E9-4285-BA3A-75F5D69C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25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49B62-C0CA-E2AE-2F21-6EB86F0F4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MILESTONE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2F4C3-D938-668C-7A00-C56DFDA9E5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Visualization &amp; Admin Controls</a:t>
            </a:r>
          </a:p>
        </p:txBody>
      </p:sp>
    </p:spTree>
    <p:extLst>
      <p:ext uri="{BB962C8B-B14F-4D97-AF65-F5344CB8AC3E}">
        <p14:creationId xmlns:p14="http://schemas.microsoft.com/office/powerpoint/2010/main" val="155532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274FC0-FB43-C41E-2ED5-A8099A7E8E35}"/>
              </a:ext>
            </a:extLst>
          </p:cNvPr>
          <p:cNvSpPr txBox="1"/>
          <p:nvPr/>
        </p:nvSpPr>
        <p:spPr>
          <a:xfrm>
            <a:off x="3048000" y="144601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📅 Day 1 – Milestone 4 Overview &amp; Visualization Basics</a:t>
            </a:r>
          </a:p>
          <a:p>
            <a:pPr>
              <a:buNone/>
            </a:pPr>
            <a:r>
              <a:rPr lang="en-US" b="1" dirty="0"/>
              <a:t>Theory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Milestone 4 and why it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Role of visualizations in career guidance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Types of 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Degree → Job role mapping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Domain-wise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Overview of Admin Dashboard responsibilities</a:t>
            </a:r>
          </a:p>
          <a:p>
            <a:pPr>
              <a:buNone/>
            </a:pPr>
            <a:r>
              <a:rPr lang="en-US" b="1" dirty="0"/>
              <a:t>Hands-on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stored prediction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Decide KPIs for visualization</a:t>
            </a:r>
          </a:p>
          <a:p>
            <a:pPr>
              <a:buNone/>
            </a:pPr>
            <a:r>
              <a:rPr lang="en-US" b="1" dirty="0"/>
              <a:t>Task</a:t>
            </a:r>
          </a:p>
          <a:p>
            <a:pPr>
              <a:buNone/>
            </a:pPr>
            <a:r>
              <a:rPr lang="en-US" dirty="0"/>
              <a:t>✅ Identify 3–4 visualizations to be built</a:t>
            </a:r>
            <a:br>
              <a:rPr lang="en-US" dirty="0"/>
            </a:br>
            <a:r>
              <a:rPr lang="en-US" dirty="0"/>
              <a:t>✅ Prepare sample dataset for charts</a:t>
            </a:r>
          </a:p>
        </p:txBody>
      </p:sp>
    </p:spTree>
    <p:extLst>
      <p:ext uri="{BB962C8B-B14F-4D97-AF65-F5344CB8AC3E}">
        <p14:creationId xmlns:p14="http://schemas.microsoft.com/office/powerpoint/2010/main" val="120178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4652DA-701E-6CE1-6FB8-7A48D6C379BA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 of Day 1</a:t>
            </a:r>
          </a:p>
          <a:p>
            <a:pPr>
              <a:buNone/>
            </a:pPr>
            <a:r>
              <a:rPr lang="en-US" dirty="0"/>
              <a:t>By the end of Day 1, students will: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the </a:t>
            </a:r>
            <a:r>
              <a:rPr lang="en-US" b="1" dirty="0"/>
              <a:t>scope and goals of Milestone 4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 why </a:t>
            </a:r>
            <a:r>
              <a:rPr lang="en-US" b="1" dirty="0"/>
              <a:t>visualization and insights</a:t>
            </a:r>
            <a:r>
              <a:rPr lang="en-US" dirty="0"/>
              <a:t> are important in ML 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key </a:t>
            </a:r>
            <a:r>
              <a:rPr lang="en-US" b="1" dirty="0"/>
              <a:t>education-to-job trends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Plan visualizations to be implemented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Get an overview of the </a:t>
            </a:r>
            <a:r>
              <a:rPr lang="en-US" b="1" dirty="0"/>
              <a:t>Admin Dashboard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84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B175B7-3C3D-D29F-A298-E7212A83E0EC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What is Milestone 4?</a:t>
            </a:r>
          </a:p>
          <a:p>
            <a:pPr>
              <a:buNone/>
            </a:pPr>
            <a:r>
              <a:rPr lang="en-US" dirty="0"/>
              <a:t>Milestone 4 focuses on </a:t>
            </a:r>
            <a:r>
              <a:rPr lang="en-US" b="1" dirty="0"/>
              <a:t>making predictions meaningful and actionable</a:t>
            </a:r>
            <a:r>
              <a:rPr lang="en-US" dirty="0"/>
              <a:t>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Visualizing education-to-job mappings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Showing career trends and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Providing admin control over data, models, and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Collecting feedback to improve predictions</a:t>
            </a:r>
          </a:p>
          <a:p>
            <a:pPr>
              <a:buNone/>
            </a:pPr>
            <a:r>
              <a:rPr lang="en-US" dirty="0"/>
              <a:t>This milestone converts a </a:t>
            </a:r>
            <a:r>
              <a:rPr lang="en-US" b="1" dirty="0"/>
              <a:t>working ML model into a decision-support system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4021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2DAED3-64E0-88DB-1536-2A82F735EF97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Why Do We Need Visualizations?</a:t>
            </a:r>
          </a:p>
          <a:p>
            <a:pPr>
              <a:buNone/>
            </a:pPr>
            <a:r>
              <a:rPr lang="en-US" dirty="0"/>
              <a:t>Predictions alone are not enough.</a:t>
            </a:r>
          </a:p>
          <a:p>
            <a:pPr>
              <a:buNone/>
            </a:pPr>
            <a:r>
              <a:rPr lang="en-US" dirty="0"/>
              <a:t>Visualizations help users: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why a job role is suggested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See common career paths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their profile with others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 informed career decisions</a:t>
            </a:r>
          </a:p>
          <a:p>
            <a:pPr>
              <a:buNone/>
            </a:pPr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Degree → Job Role mapping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Job domain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Popular roles for a specialization</a:t>
            </a:r>
          </a:p>
        </p:txBody>
      </p:sp>
    </p:spTree>
    <p:extLst>
      <p:ext uri="{BB962C8B-B14F-4D97-AF65-F5344CB8AC3E}">
        <p14:creationId xmlns:p14="http://schemas.microsoft.com/office/powerpoint/2010/main" val="97196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B040FF-3E07-5315-8A27-9B1090A519A0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Types of Visualizations in This Project</a:t>
            </a:r>
          </a:p>
          <a:p>
            <a:pPr>
              <a:buNone/>
            </a:pPr>
            <a:r>
              <a:rPr lang="en-US" dirty="0"/>
              <a:t>Students will work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Bar Charts:</a:t>
            </a:r>
            <a:r>
              <a:rPr lang="en-US" dirty="0"/>
              <a:t> Degree vs Job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Pie Charts:</a:t>
            </a:r>
            <a:r>
              <a:rPr lang="en-US" dirty="0"/>
              <a:t> Job domain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Trend Charts:</a:t>
            </a:r>
            <a:r>
              <a:rPr lang="en-US" dirty="0"/>
              <a:t> Career transitions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Comparison Views:</a:t>
            </a:r>
            <a:r>
              <a:rPr lang="en-US" dirty="0"/>
              <a:t> User vs similar profiles</a:t>
            </a:r>
          </a:p>
        </p:txBody>
      </p:sp>
    </p:spTree>
    <p:extLst>
      <p:ext uri="{BB962C8B-B14F-4D97-AF65-F5344CB8AC3E}">
        <p14:creationId xmlns:p14="http://schemas.microsoft.com/office/powerpoint/2010/main" val="33896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72A49B-AAE3-175D-1D63-3B36739393C6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4️⃣ Introduction to Admin Dashboard</a:t>
            </a:r>
          </a:p>
          <a:p>
            <a:pPr>
              <a:buNone/>
            </a:pPr>
            <a:r>
              <a:rPr lang="en-IN" dirty="0"/>
              <a:t>Admin responsibilities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Uploading and managing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Triggering model retraining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Viewing user prediction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Reviewing incorrect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Monitoring feedback</a:t>
            </a:r>
          </a:p>
          <a:p>
            <a:pPr>
              <a:buNone/>
            </a:pPr>
            <a:r>
              <a:rPr lang="en-IN" dirty="0"/>
              <a:t>Admin panel ensures the system remains </a:t>
            </a:r>
            <a:r>
              <a:rPr lang="en-IN" b="1" dirty="0"/>
              <a:t>accurate, scalable, and reliable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5717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738A5-8516-ECAE-3394-BF047CD46616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🛠️ Hands-on Session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Review existing prediction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Identify fields useful for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 rough UI layout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Visualization dashboard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Admin panel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Decide KPIs and metrics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📝 Task for Students</a:t>
            </a:r>
          </a:p>
          <a:p>
            <a:pPr>
              <a:buNone/>
            </a:pPr>
            <a:r>
              <a:rPr lang="en-IN" dirty="0"/>
              <a:t>✅ List 3–4 visualizations to be implemented</a:t>
            </a:r>
            <a:br>
              <a:rPr lang="en-IN" dirty="0"/>
            </a:br>
            <a:r>
              <a:rPr lang="en-IN" dirty="0"/>
              <a:t>✅ Identify required backend data for each chart</a:t>
            </a:r>
            <a:br>
              <a:rPr lang="en-IN" dirty="0"/>
            </a:br>
            <a:r>
              <a:rPr lang="en-IN" dirty="0"/>
              <a:t>✅ Prepare sample dataset (dummy or real)</a:t>
            </a:r>
            <a:br>
              <a:rPr lang="en-IN" dirty="0"/>
            </a:br>
            <a:r>
              <a:rPr lang="en-IN" dirty="0"/>
              <a:t>✅ Push planning notes or UI sketch to GitHub</a:t>
            </a:r>
          </a:p>
        </p:txBody>
      </p:sp>
    </p:spTree>
    <p:extLst>
      <p:ext uri="{BB962C8B-B14F-4D97-AF65-F5344CB8AC3E}">
        <p14:creationId xmlns:p14="http://schemas.microsoft.com/office/powerpoint/2010/main" val="2284135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F8D69C-DC34-8709-A488-9E7634D862D2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Outcome of Day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understanding of Milestone 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Visualization plan finalized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panel scope defined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Ready to implement charts on </a:t>
            </a:r>
            <a:r>
              <a:rPr lang="en-US" b="1" dirty="0"/>
              <a:t>Day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147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5159F3-3C68-98BB-5480-A8AD73C05F54}"/>
              </a:ext>
            </a:extLst>
          </p:cNvPr>
          <p:cNvSpPr txBox="1"/>
          <p:nvPr/>
        </p:nvSpPr>
        <p:spPr>
          <a:xfrm>
            <a:off x="3048000" y="158451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📅 Day 2 – Education-to-Job Trend Visualizations</a:t>
            </a:r>
          </a:p>
          <a:p>
            <a:pPr>
              <a:buNone/>
            </a:pPr>
            <a:r>
              <a:rPr lang="en-US" b="1" dirty="0"/>
              <a:t>Theory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Bar charts, pie charts, line charts (use cases)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Mapping education fields to job domains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Understanding trend analysis</a:t>
            </a:r>
          </a:p>
          <a:p>
            <a:pPr>
              <a:buNone/>
            </a:pPr>
            <a:r>
              <a:rPr lang="en-US" b="1" dirty="0"/>
              <a:t>Hands-on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Degree vs Job Role bar chart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Job domain distribution pie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Fetch data from backend API</a:t>
            </a:r>
          </a:p>
          <a:p>
            <a:pPr>
              <a:buNone/>
            </a:pPr>
            <a:r>
              <a:rPr lang="en-US" b="1" dirty="0"/>
              <a:t>Task</a:t>
            </a:r>
          </a:p>
          <a:p>
            <a:pPr>
              <a:buNone/>
            </a:pPr>
            <a:r>
              <a:rPr lang="en-US" dirty="0"/>
              <a:t>✅ Implement at least 2 charts</a:t>
            </a:r>
            <a:br>
              <a:rPr lang="en-US" dirty="0"/>
            </a:br>
            <a:r>
              <a:rPr lang="en-US" dirty="0"/>
              <a:t>✅ Display charts in dashboard UI</a:t>
            </a:r>
          </a:p>
        </p:txBody>
      </p:sp>
    </p:spTree>
    <p:extLst>
      <p:ext uri="{BB962C8B-B14F-4D97-AF65-F5344CB8AC3E}">
        <p14:creationId xmlns:p14="http://schemas.microsoft.com/office/powerpoint/2010/main" val="2673810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C26D0E-E264-D016-2CC6-451307461085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 of Day 2</a:t>
            </a:r>
          </a:p>
          <a:p>
            <a:pPr>
              <a:buNone/>
            </a:pPr>
            <a:r>
              <a:rPr lang="en-US" dirty="0"/>
              <a:t>By the end of Day 2, students will: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how to convert data into </a:t>
            </a:r>
            <a:r>
              <a:rPr lang="en-US" b="1" dirty="0"/>
              <a:t>meaningful charts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</a:t>
            </a:r>
            <a:r>
              <a:rPr lang="en-US" b="1" dirty="0"/>
              <a:t>education-to-job mapping visualizations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Fetch data from backend APIs for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charts on the user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Interpret trends from visual outputs</a:t>
            </a:r>
          </a:p>
        </p:txBody>
      </p:sp>
    </p:spTree>
    <p:extLst>
      <p:ext uri="{BB962C8B-B14F-4D97-AF65-F5344CB8AC3E}">
        <p14:creationId xmlns:p14="http://schemas.microsoft.com/office/powerpoint/2010/main" val="1374442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FF0FF8-AF85-8682-08C3-91480A181DBA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Understanding Education-to-Job Mapping</a:t>
            </a:r>
          </a:p>
          <a:p>
            <a:pPr>
              <a:buNone/>
            </a:pPr>
            <a:r>
              <a:rPr lang="en-US" dirty="0"/>
              <a:t>Education-to-job mapping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degrees lead to which job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common roles per 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Popular job domains for different education fields</a:t>
            </a:r>
          </a:p>
          <a:p>
            <a:pPr>
              <a:buNone/>
            </a:pPr>
            <a:r>
              <a:rPr lang="en-US" dirty="0"/>
              <a:t>This helps users </a:t>
            </a:r>
            <a:r>
              <a:rPr lang="en-US" b="1" dirty="0"/>
              <a:t>trust and understand</a:t>
            </a:r>
            <a:r>
              <a:rPr lang="en-US" dirty="0"/>
              <a:t> ML predictions.</a:t>
            </a:r>
          </a:p>
        </p:txBody>
      </p:sp>
    </p:spTree>
    <p:extLst>
      <p:ext uri="{BB962C8B-B14F-4D97-AF65-F5344CB8AC3E}">
        <p14:creationId xmlns:p14="http://schemas.microsoft.com/office/powerpoint/2010/main" val="2167776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4434A-5072-6636-AF1B-D0D21DF9E951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Choosing the Right Chart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Bar Chart:</a:t>
            </a:r>
            <a:r>
              <a:rPr lang="en-US" dirty="0"/>
              <a:t> Degree vs Job Role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Pie Chart:</a:t>
            </a:r>
            <a:r>
              <a:rPr lang="en-US" dirty="0"/>
              <a:t> Job domain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Line Chart:</a:t>
            </a:r>
            <a:r>
              <a:rPr lang="en-US" dirty="0"/>
              <a:t> Trend over time (optional)</a:t>
            </a:r>
          </a:p>
          <a:p>
            <a:pPr>
              <a:buNone/>
            </a:pPr>
            <a:r>
              <a:rPr lang="en-US" dirty="0"/>
              <a:t>Explain why each chart is used and what insight it gives.</a:t>
            </a:r>
          </a:p>
        </p:txBody>
      </p:sp>
    </p:spTree>
    <p:extLst>
      <p:ext uri="{BB962C8B-B14F-4D97-AF65-F5344CB8AC3E}">
        <p14:creationId xmlns:p14="http://schemas.microsoft.com/office/powerpoint/2010/main" val="1613905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7797F3-0AD1-E8CD-C551-A38CE8EF405D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3️⃣ Data Flow for Visualizations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Database → Backend API → Frontend Chart Component → User Dashboard</a:t>
            </a:r>
          </a:p>
          <a:p>
            <a:pPr>
              <a:buNone/>
            </a:pPr>
            <a:r>
              <a:rPr lang="en-IN" dirty="0"/>
              <a:t>Important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Aggregated data (counts, percentages)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Clean and formatted API responses</a:t>
            </a:r>
          </a:p>
        </p:txBody>
      </p:sp>
    </p:spTree>
    <p:extLst>
      <p:ext uri="{BB962C8B-B14F-4D97-AF65-F5344CB8AC3E}">
        <p14:creationId xmlns:p14="http://schemas.microsoft.com/office/powerpoint/2010/main" val="1407466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ADCEF-BF29-3AA4-D7D3-6116E0A5B2B2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4️⃣ Best Practices for Visualizations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 charts simple and readable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meaningful labels and legends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overcrowding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insights, not raw numbers</a:t>
            </a:r>
          </a:p>
        </p:txBody>
      </p:sp>
    </p:spTree>
    <p:extLst>
      <p:ext uri="{BB962C8B-B14F-4D97-AF65-F5344CB8AC3E}">
        <p14:creationId xmlns:p14="http://schemas.microsoft.com/office/powerpoint/2010/main" val="1209983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60560E-2CE4-42D2-7C6C-FBFE992D9BA3}"/>
              </a:ext>
            </a:extLst>
          </p:cNvPr>
          <p:cNvSpPr txBox="1"/>
          <p:nvPr/>
        </p:nvSpPr>
        <p:spPr>
          <a:xfrm>
            <a:off x="3048000" y="130534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🛠️ Hands-on Session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backend APIs to fetch aggregated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Degree vs Job Role 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Job domain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charts on 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Integrate APIs with chart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Test with sample data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📝 Task for Students</a:t>
            </a:r>
          </a:p>
          <a:p>
            <a:pPr>
              <a:buNone/>
            </a:pPr>
            <a:r>
              <a:rPr lang="en-IN" dirty="0"/>
              <a:t>✅ Create at least 2 visualization APIs</a:t>
            </a:r>
            <a:br>
              <a:rPr lang="en-IN" dirty="0"/>
            </a:br>
            <a:r>
              <a:rPr lang="en-IN" dirty="0"/>
              <a:t>✅ Implement bar chart for Degree vs Job Role</a:t>
            </a:r>
            <a:br>
              <a:rPr lang="en-IN" dirty="0"/>
            </a:br>
            <a:r>
              <a:rPr lang="en-IN" dirty="0"/>
              <a:t>✅ Implement pie chart for Job Domain distribution</a:t>
            </a:r>
            <a:br>
              <a:rPr lang="en-IN" dirty="0"/>
            </a:br>
            <a:r>
              <a:rPr lang="en-IN" dirty="0"/>
              <a:t>✅ Display charts on dashboard</a:t>
            </a:r>
            <a:br>
              <a:rPr lang="en-IN" dirty="0"/>
            </a:br>
            <a:r>
              <a:rPr lang="en-IN" dirty="0"/>
              <a:t>✅ Push code to GitHub</a:t>
            </a:r>
          </a:p>
        </p:txBody>
      </p:sp>
    </p:spTree>
    <p:extLst>
      <p:ext uri="{BB962C8B-B14F-4D97-AF65-F5344CB8AC3E}">
        <p14:creationId xmlns:p14="http://schemas.microsoft.com/office/powerpoint/2010/main" val="4286920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E226C9-1CE3-2DB6-C17D-4689432DC0E1}"/>
              </a:ext>
            </a:extLst>
          </p:cNvPr>
          <p:cNvSpPr txBox="1"/>
          <p:nvPr/>
        </p:nvSpPr>
        <p:spPr>
          <a:xfrm>
            <a:off x="3048000" y="158451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📅 Day 3 – Career Insights &amp; User Comparison</a:t>
            </a:r>
          </a:p>
          <a:p>
            <a:pPr>
              <a:buNone/>
            </a:pPr>
            <a:r>
              <a:rPr lang="en-IN" b="1" dirty="0"/>
              <a:t>Theory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What are career insights?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Comparing user profile with similar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Showing alternative career paths</a:t>
            </a:r>
          </a:p>
          <a:p>
            <a:pPr>
              <a:buNone/>
            </a:pPr>
            <a:r>
              <a:rPr lang="en-IN" b="1" dirty="0"/>
              <a:t>Hands-on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logic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Compare user data with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Show common transitions (e.g., Testing → Data Analyst)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 insights textually + visually</a:t>
            </a:r>
          </a:p>
          <a:p>
            <a:pPr>
              <a:buNone/>
            </a:pPr>
            <a:r>
              <a:rPr lang="en-IN" b="1" dirty="0"/>
              <a:t>Task</a:t>
            </a:r>
          </a:p>
          <a:p>
            <a:pPr>
              <a:buNone/>
            </a:pPr>
            <a:r>
              <a:rPr lang="en-IN" dirty="0"/>
              <a:t>✅ Show 1 comparison-based insight</a:t>
            </a:r>
            <a:br>
              <a:rPr lang="en-IN" dirty="0"/>
            </a:br>
            <a:r>
              <a:rPr lang="en-IN" dirty="0"/>
              <a:t>✅ Save insight logic in backend</a:t>
            </a:r>
          </a:p>
        </p:txBody>
      </p:sp>
    </p:spTree>
    <p:extLst>
      <p:ext uri="{BB962C8B-B14F-4D97-AF65-F5344CB8AC3E}">
        <p14:creationId xmlns:p14="http://schemas.microsoft.com/office/powerpoint/2010/main" val="303029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A9BA2E-B6B1-962F-98B6-4682DB58B98D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 of Day 3</a:t>
            </a:r>
          </a:p>
          <a:p>
            <a:pPr>
              <a:buNone/>
            </a:pPr>
            <a:r>
              <a:rPr lang="en-US" dirty="0"/>
              <a:t>By the end of Day 3, students will: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what </a:t>
            </a:r>
            <a:r>
              <a:rPr lang="en-US" b="1" dirty="0"/>
              <a:t>career insights</a:t>
            </a:r>
            <a:r>
              <a:rPr lang="en-US" dirty="0"/>
              <a:t> mean beyond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a user’s profile with </a:t>
            </a:r>
            <a:r>
              <a:rPr lang="en-US" b="1" dirty="0"/>
              <a:t>similar profiles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</a:t>
            </a:r>
            <a:r>
              <a:rPr lang="en-US" b="1" dirty="0"/>
              <a:t>alternative career paths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 </a:t>
            </a:r>
            <a:r>
              <a:rPr lang="en-US" b="1" dirty="0"/>
              <a:t>explainable insights</a:t>
            </a:r>
            <a:r>
              <a:rPr lang="en-US" dirty="0"/>
              <a:t> from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insights in a user-friendly manner</a:t>
            </a:r>
          </a:p>
        </p:txBody>
      </p:sp>
    </p:spTree>
    <p:extLst>
      <p:ext uri="{BB962C8B-B14F-4D97-AF65-F5344CB8AC3E}">
        <p14:creationId xmlns:p14="http://schemas.microsoft.com/office/powerpoint/2010/main" val="2571903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0F32A-1795-BF2B-8837-7E2E51E831BD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What Are Career Insights?</a:t>
            </a:r>
          </a:p>
          <a:p>
            <a:pPr>
              <a:buNone/>
            </a:pPr>
            <a:r>
              <a:rPr lang="en-US" dirty="0"/>
              <a:t>Career insights explain: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Why</a:t>
            </a:r>
            <a:r>
              <a:rPr lang="en-US" dirty="0"/>
              <a:t> a job role is suggested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similar profiles progressed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alternative roles are possible</a:t>
            </a:r>
          </a:p>
          <a:p>
            <a:pPr>
              <a:buNone/>
            </a:pPr>
            <a:r>
              <a:rPr lang="en-US" dirty="0"/>
              <a:t>Insights build </a:t>
            </a:r>
            <a:r>
              <a:rPr lang="en-US" b="1" dirty="0"/>
              <a:t>user trust</a:t>
            </a:r>
            <a:r>
              <a:rPr lang="en-US" dirty="0"/>
              <a:t> in ML systems.</a:t>
            </a:r>
          </a:p>
        </p:txBody>
      </p:sp>
    </p:spTree>
    <p:extLst>
      <p:ext uri="{BB962C8B-B14F-4D97-AF65-F5344CB8AC3E}">
        <p14:creationId xmlns:p14="http://schemas.microsoft.com/office/powerpoint/2010/main" val="2155896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203FD9-AC5F-EC4A-C369-5608A88FA3C7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User Comparison Logic</a:t>
            </a:r>
          </a:p>
          <a:p>
            <a:pPr>
              <a:buNone/>
            </a:pPr>
            <a:r>
              <a:rPr lang="en-US" dirty="0"/>
              <a:t>Compare user with others based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CGPA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Certifications</a:t>
            </a:r>
          </a:p>
          <a:p>
            <a:pPr>
              <a:buNone/>
            </a:pPr>
            <a:r>
              <a:rPr lang="en-US" b="1" dirty="0"/>
              <a:t>Example Insight:</a:t>
            </a:r>
            <a:endParaRPr lang="en-US" dirty="0"/>
          </a:p>
          <a:p>
            <a:pPr>
              <a:buNone/>
            </a:pPr>
            <a:r>
              <a:rPr lang="en-US" dirty="0"/>
              <a:t>“70% of students with </a:t>
            </a:r>
            <a:r>
              <a:rPr lang="en-US" dirty="0" err="1"/>
              <a:t>B.Tech</a:t>
            </a:r>
            <a:r>
              <a:rPr lang="en-US" dirty="0"/>
              <a:t> CSE and CGPA &gt; 7.5 became Data Analysts or Software Engineers.”</a:t>
            </a:r>
          </a:p>
        </p:txBody>
      </p:sp>
    </p:spTree>
    <p:extLst>
      <p:ext uri="{BB962C8B-B14F-4D97-AF65-F5344CB8AC3E}">
        <p14:creationId xmlns:p14="http://schemas.microsoft.com/office/powerpoint/2010/main" val="2843200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D10FA-15D0-DB48-D6DD-7DDFA77821B7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Alternative Career Pathways</a:t>
            </a:r>
          </a:p>
          <a:p>
            <a:pPr>
              <a:buNone/>
            </a:pPr>
            <a:r>
              <a:rPr lang="en-US" dirty="0"/>
              <a:t>If primary role is not selected: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Suggest adjacent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 overlap in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Highlight required upskilling</a:t>
            </a:r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Testing Engineer → Data Analyst → Data Scientist</a:t>
            </a:r>
          </a:p>
        </p:txBody>
      </p:sp>
    </p:spTree>
    <p:extLst>
      <p:ext uri="{BB962C8B-B14F-4D97-AF65-F5344CB8AC3E}">
        <p14:creationId xmlns:p14="http://schemas.microsoft.com/office/powerpoint/2010/main" val="1180025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742501-C9CE-3578-BA9D-5BE257F6C11C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4️⃣ Explainability in ML Systems</a:t>
            </a:r>
          </a:p>
          <a:p>
            <a:pPr>
              <a:buNone/>
            </a:pPr>
            <a:r>
              <a:rPr lang="en-US" dirty="0"/>
              <a:t>Explainability answers: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this role?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skills match?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skills are missing?</a:t>
            </a:r>
          </a:p>
          <a:p>
            <a:pPr>
              <a:buNone/>
            </a:pPr>
            <a:r>
              <a:rPr lang="en-US" dirty="0"/>
              <a:t>This improves </a:t>
            </a:r>
            <a:r>
              <a:rPr lang="en-US" b="1" dirty="0"/>
              <a:t>career decision-making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7318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89CBEE-7F99-8146-E758-CBF6510A70A7}"/>
              </a:ext>
            </a:extLst>
          </p:cNvPr>
          <p:cNvSpPr txBox="1"/>
          <p:nvPr/>
        </p:nvSpPr>
        <p:spPr>
          <a:xfrm>
            <a:off x="3048000" y="130534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🛠️ Hands-on Session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backend logic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Find similar profiles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Calculate common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Generate insight text dynamically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 insights on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 comparison charts or summary cards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📝 Task for Students</a:t>
            </a:r>
          </a:p>
          <a:p>
            <a:pPr>
              <a:buNone/>
            </a:pPr>
            <a:r>
              <a:rPr lang="en-IN" dirty="0"/>
              <a:t>✅ Implement similar-profile comparison logic</a:t>
            </a:r>
            <a:br>
              <a:rPr lang="en-IN" dirty="0"/>
            </a:br>
            <a:r>
              <a:rPr lang="en-IN" dirty="0"/>
              <a:t>✅ Show at least 2 career insights</a:t>
            </a:r>
            <a:br>
              <a:rPr lang="en-IN" dirty="0"/>
            </a:br>
            <a:r>
              <a:rPr lang="en-IN" dirty="0"/>
              <a:t>✅ Display alternative role suggestions</a:t>
            </a:r>
            <a:br>
              <a:rPr lang="en-IN" dirty="0"/>
            </a:br>
            <a:r>
              <a:rPr lang="en-IN" dirty="0"/>
              <a:t>✅ Save insights to user history</a:t>
            </a:r>
            <a:br>
              <a:rPr lang="en-IN" dirty="0"/>
            </a:br>
            <a:r>
              <a:rPr lang="en-IN" dirty="0"/>
              <a:t>✅ Push code to GitHub</a:t>
            </a:r>
          </a:p>
        </p:txBody>
      </p:sp>
    </p:spTree>
    <p:extLst>
      <p:ext uri="{BB962C8B-B14F-4D97-AF65-F5344CB8AC3E}">
        <p14:creationId xmlns:p14="http://schemas.microsoft.com/office/powerpoint/2010/main" val="1327211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E9B466-A843-9DC8-EF66-E9C46D056E5A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Outcome of Day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Career insights displayed clearly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comparison working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Alternative pathways visible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Ready for </a:t>
            </a:r>
            <a:r>
              <a:rPr lang="en-US" b="1" dirty="0"/>
              <a:t>Admin Controls (Day 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6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813314-704A-7263-7603-710C1E05D110}"/>
              </a:ext>
            </a:extLst>
          </p:cNvPr>
          <p:cNvSpPr txBox="1"/>
          <p:nvPr/>
        </p:nvSpPr>
        <p:spPr>
          <a:xfrm>
            <a:off x="3048000" y="144601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📅 Day 4 – Admin Panel: Dataset &amp; Model Management</a:t>
            </a:r>
          </a:p>
          <a:p>
            <a:pPr>
              <a:buNone/>
            </a:pPr>
            <a:r>
              <a:rPr lang="en-IN" b="1" dirty="0"/>
              <a:t>Theory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Why admin control is needed in ML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Dataset versioning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Model retraining lifecycle</a:t>
            </a:r>
          </a:p>
          <a:p>
            <a:pPr>
              <a:buNone/>
            </a:pPr>
            <a:r>
              <a:rPr lang="en-IN" b="1" dirty="0"/>
              <a:t>Hands-on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Admin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Upload new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Trigger model retraining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View training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Secure admin routes using JWT + role check</a:t>
            </a:r>
          </a:p>
          <a:p>
            <a:pPr>
              <a:buNone/>
            </a:pPr>
            <a:r>
              <a:rPr lang="en-IN" b="1" dirty="0"/>
              <a:t>Task</a:t>
            </a:r>
          </a:p>
          <a:p>
            <a:pPr>
              <a:buNone/>
            </a:pPr>
            <a:r>
              <a:rPr lang="en-IN" dirty="0"/>
              <a:t>✅ Dataset upload working</a:t>
            </a:r>
            <a:br>
              <a:rPr lang="en-IN" dirty="0"/>
            </a:br>
            <a:r>
              <a:rPr lang="en-IN" dirty="0"/>
              <a:t>✅ Retrain trigger API implemented</a:t>
            </a:r>
          </a:p>
        </p:txBody>
      </p:sp>
    </p:spTree>
    <p:extLst>
      <p:ext uri="{BB962C8B-B14F-4D97-AF65-F5344CB8AC3E}">
        <p14:creationId xmlns:p14="http://schemas.microsoft.com/office/powerpoint/2010/main" val="2114029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FF7B90-B204-0194-E7D8-0E929568BE09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 of Day 4</a:t>
            </a:r>
          </a:p>
          <a:p>
            <a:pPr>
              <a:buNone/>
            </a:pPr>
            <a:r>
              <a:rPr lang="en-US" dirty="0"/>
              <a:t>By the end of Day 4, students will: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the role of </a:t>
            </a:r>
            <a:r>
              <a:rPr lang="en-US" b="1" dirty="0"/>
              <a:t>Admin controls</a:t>
            </a:r>
            <a:r>
              <a:rPr lang="en-US" dirty="0"/>
              <a:t> in ML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</a:t>
            </a:r>
            <a:r>
              <a:rPr lang="en-US" b="1" dirty="0"/>
              <a:t>dataset upload &amp; management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Trigger </a:t>
            </a:r>
            <a:r>
              <a:rPr lang="en-US" b="1" dirty="0"/>
              <a:t>model retraining</a:t>
            </a:r>
            <a:r>
              <a:rPr lang="en-US" dirty="0"/>
              <a:t> from the admin panel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admin features using </a:t>
            </a:r>
            <a:r>
              <a:rPr lang="en-US" b="1" dirty="0"/>
              <a:t>JWT &amp; role-based access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model and data updates</a:t>
            </a:r>
          </a:p>
        </p:txBody>
      </p:sp>
    </p:spTree>
    <p:extLst>
      <p:ext uri="{BB962C8B-B14F-4D97-AF65-F5344CB8AC3E}">
        <p14:creationId xmlns:p14="http://schemas.microsoft.com/office/powerpoint/2010/main" val="3699518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1A3088-2ED7-9149-23E7-1E7B96F28C3C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Why Admin Dashboard is Critical</a:t>
            </a:r>
          </a:p>
          <a:p>
            <a:pPr>
              <a:buNone/>
            </a:pPr>
            <a:r>
              <a:rPr lang="en-US" dirty="0"/>
              <a:t>In real-world ML applications: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changes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Models need retraining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Predictions must be monitored</a:t>
            </a:r>
          </a:p>
          <a:p>
            <a:pPr>
              <a:buNone/>
            </a:pPr>
            <a:r>
              <a:rPr lang="en-US" dirty="0"/>
              <a:t>Admin dashboard allows: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Controlled updates without code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model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reliability</a:t>
            </a:r>
          </a:p>
        </p:txBody>
      </p:sp>
    </p:spTree>
    <p:extLst>
      <p:ext uri="{BB962C8B-B14F-4D97-AF65-F5344CB8AC3E}">
        <p14:creationId xmlns:p14="http://schemas.microsoft.com/office/powerpoint/2010/main" val="1983551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5A9B6D-1F8A-DD59-C06A-0327D3908889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Dataset Management</a:t>
            </a:r>
          </a:p>
          <a:p>
            <a:pPr>
              <a:buNone/>
            </a:pPr>
            <a:r>
              <a:rPr lang="en-US" dirty="0"/>
              <a:t>Admin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Upload new datasets (CSV)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Validate dataset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Replace or append existing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 dataset versions</a:t>
            </a:r>
          </a:p>
          <a:p>
            <a:pPr>
              <a:buNone/>
            </a:pPr>
            <a:r>
              <a:rPr lang="en-US" dirty="0"/>
              <a:t>Explain </a:t>
            </a:r>
            <a:r>
              <a:rPr lang="en-US" b="1" dirty="0"/>
              <a:t>data versioning</a:t>
            </a:r>
            <a:r>
              <a:rPr lang="en-US" dirty="0"/>
              <a:t> and why it matters.</a:t>
            </a:r>
          </a:p>
        </p:txBody>
      </p:sp>
    </p:spTree>
    <p:extLst>
      <p:ext uri="{BB962C8B-B14F-4D97-AF65-F5344CB8AC3E}">
        <p14:creationId xmlns:p14="http://schemas.microsoft.com/office/powerpoint/2010/main" val="2486374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F92BC4-FDD4-667E-0A43-5F831720D879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3️⃣ Model Retraining Workflow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Admin uploads dataset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Backend validates data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Model retraining triggered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Model saved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Predictions updated</a:t>
            </a:r>
          </a:p>
          <a:p>
            <a:pPr>
              <a:buNone/>
            </a:pPr>
            <a:r>
              <a:rPr lang="en-IN" dirty="0"/>
              <a:t>Key concepts: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Training vs inference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Avoid blocking user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Maintain previous model backup</a:t>
            </a:r>
          </a:p>
        </p:txBody>
      </p:sp>
    </p:spTree>
    <p:extLst>
      <p:ext uri="{BB962C8B-B14F-4D97-AF65-F5344CB8AC3E}">
        <p14:creationId xmlns:p14="http://schemas.microsoft.com/office/powerpoint/2010/main" val="736420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83707E-2BB3-5E52-272B-AB114FCCA473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4️⃣ Securing Admin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Admin-only routes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JWT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Role-based access control</a:t>
            </a:r>
          </a:p>
          <a:p>
            <a:pPr>
              <a:buNone/>
            </a:pPr>
            <a:r>
              <a:rPr lang="en-US" dirty="0"/>
              <a:t>Prevents unauthorized data or model changes.</a:t>
            </a:r>
          </a:p>
        </p:txBody>
      </p:sp>
    </p:spTree>
    <p:extLst>
      <p:ext uri="{BB962C8B-B14F-4D97-AF65-F5344CB8AC3E}">
        <p14:creationId xmlns:p14="http://schemas.microsoft.com/office/powerpoint/2010/main" val="2538097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788354-AAA4-013A-1AAD-371623CEA77D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🛠️ Hands-on Session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Admin dashboard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dataset upload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 dataset metadata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retrain model endpoint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Restrict routes to Admin role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📝 Task for Students</a:t>
            </a:r>
          </a:p>
          <a:p>
            <a:pPr>
              <a:buNone/>
            </a:pPr>
            <a:r>
              <a:rPr lang="en-IN" dirty="0"/>
              <a:t>✅ Dataset upload working (CSV)</a:t>
            </a:r>
            <a:br>
              <a:rPr lang="en-IN" dirty="0"/>
            </a:br>
            <a:r>
              <a:rPr lang="en-IN" dirty="0"/>
              <a:t>✅ Dataset validation implemented</a:t>
            </a:r>
            <a:br>
              <a:rPr lang="en-IN" dirty="0"/>
            </a:br>
            <a:r>
              <a:rPr lang="en-IN" dirty="0"/>
              <a:t>✅ Model retraining trigger API</a:t>
            </a:r>
            <a:br>
              <a:rPr lang="en-IN" dirty="0"/>
            </a:br>
            <a:r>
              <a:rPr lang="en-IN" dirty="0"/>
              <a:t>✅ Admin-only access enforced</a:t>
            </a:r>
            <a:br>
              <a:rPr lang="en-IN" dirty="0"/>
            </a:br>
            <a:r>
              <a:rPr lang="en-IN" dirty="0"/>
              <a:t>✅ Push code to GitHub</a:t>
            </a:r>
          </a:p>
        </p:txBody>
      </p:sp>
    </p:spTree>
    <p:extLst>
      <p:ext uri="{BB962C8B-B14F-4D97-AF65-F5344CB8AC3E}">
        <p14:creationId xmlns:p14="http://schemas.microsoft.com/office/powerpoint/2010/main" val="3205987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A5B62D-59A8-C746-E709-B688C1C8F950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Outcome of Day 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Functional Admin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 management working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retraining enabled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Ready for </a:t>
            </a:r>
            <a:r>
              <a:rPr lang="en-US" b="1" dirty="0"/>
              <a:t>Logs, Feedback &amp; Review (Day 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033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0A7610-89E6-BF65-D544-32DCA0008A67}"/>
              </a:ext>
            </a:extLst>
          </p:cNvPr>
          <p:cNvSpPr txBox="1"/>
          <p:nvPr/>
        </p:nvSpPr>
        <p:spPr>
          <a:xfrm>
            <a:off x="3048000" y="158451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📅 Day 5 – Admin Logs, Feedback &amp; Prediction Review</a:t>
            </a:r>
          </a:p>
          <a:p>
            <a:pPr>
              <a:buNone/>
            </a:pPr>
            <a:r>
              <a:rPr lang="en-US" b="1" dirty="0"/>
              <a:t>Theory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Importance of logs and feedback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incorrect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Improving model quality using feedback</a:t>
            </a:r>
          </a:p>
          <a:p>
            <a:pPr>
              <a:buNone/>
            </a:pPr>
            <a:r>
              <a:rPr lang="en-US" b="1" dirty="0"/>
              <a:t>Hands-on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prediction history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Feedback 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can flag predictions for review</a:t>
            </a:r>
          </a:p>
          <a:p>
            <a:pPr>
              <a:buNone/>
            </a:pPr>
            <a:r>
              <a:rPr lang="en-US" b="1" dirty="0"/>
              <a:t>Task</a:t>
            </a:r>
          </a:p>
          <a:p>
            <a:pPr>
              <a:buNone/>
            </a:pPr>
            <a:r>
              <a:rPr lang="en-US" dirty="0"/>
              <a:t>✅ Feedback stored in DB</a:t>
            </a:r>
            <a:br>
              <a:rPr lang="en-US" dirty="0"/>
            </a:br>
            <a:r>
              <a:rPr lang="en-US" dirty="0"/>
              <a:t>✅ Admin review panel functional</a:t>
            </a:r>
          </a:p>
        </p:txBody>
      </p:sp>
    </p:spTree>
    <p:extLst>
      <p:ext uri="{BB962C8B-B14F-4D97-AF65-F5344CB8AC3E}">
        <p14:creationId xmlns:p14="http://schemas.microsoft.com/office/powerpoint/2010/main" val="3958831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257E47-BD2E-103A-3687-D5CB8D8DF402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 of Day 5</a:t>
            </a:r>
          </a:p>
          <a:p>
            <a:pPr>
              <a:buNone/>
            </a:pPr>
            <a:r>
              <a:rPr lang="en-US" dirty="0"/>
              <a:t>By the end of Day 5, students will: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the importance of </a:t>
            </a:r>
            <a:r>
              <a:rPr lang="en-US" b="1" dirty="0"/>
              <a:t>logs and feedback</a:t>
            </a:r>
            <a:r>
              <a:rPr lang="en-US" dirty="0"/>
              <a:t> in ML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 </a:t>
            </a:r>
            <a:r>
              <a:rPr lang="en-US" b="1" dirty="0"/>
              <a:t>user prediction history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 </a:t>
            </a:r>
            <a:r>
              <a:rPr lang="en-US" b="1" dirty="0"/>
              <a:t>feedback mechanism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 admins to </a:t>
            </a:r>
            <a:r>
              <a:rPr lang="en-US" b="1" dirty="0"/>
              <a:t>review and flag predictions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feedback to improve system quality</a:t>
            </a:r>
          </a:p>
        </p:txBody>
      </p:sp>
    </p:spTree>
    <p:extLst>
      <p:ext uri="{BB962C8B-B14F-4D97-AF65-F5344CB8AC3E}">
        <p14:creationId xmlns:p14="http://schemas.microsoft.com/office/powerpoint/2010/main" val="3588868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CCC883-902C-9C8C-44AE-7F5E6E1BFD26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1️⃣ Why Logs Are Important</a:t>
            </a:r>
          </a:p>
          <a:p>
            <a:pPr>
              <a:buNone/>
            </a:pPr>
            <a:r>
              <a:rPr lang="en-IN" dirty="0"/>
              <a:t>Logs help admins: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Monitor system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Track prediction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Debug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Audit admin and user actions</a:t>
            </a:r>
          </a:p>
          <a:p>
            <a:pPr>
              <a:buNone/>
            </a:pPr>
            <a:r>
              <a:rPr lang="en-IN" dirty="0"/>
              <a:t>Examples of logs: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login/logout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Prediction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Dataset uploads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Model retraining events</a:t>
            </a:r>
          </a:p>
        </p:txBody>
      </p:sp>
    </p:spTree>
    <p:extLst>
      <p:ext uri="{BB962C8B-B14F-4D97-AF65-F5344CB8AC3E}">
        <p14:creationId xmlns:p14="http://schemas.microsoft.com/office/powerpoint/2010/main" val="38186095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95B4CA-E7C9-520D-78CD-FDE3889D7CC1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User Feedback System</a:t>
            </a:r>
          </a:p>
          <a:p>
            <a:pPr>
              <a:buNone/>
            </a:pPr>
            <a:r>
              <a:rPr lang="en-US" dirty="0"/>
              <a:t>Feedback allows users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Rate prediction relevance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 suggestions as helpful or not</a:t>
            </a:r>
          </a:p>
          <a:p>
            <a:pPr>
              <a:buNone/>
            </a:pPr>
            <a:r>
              <a:rPr lang="en-US" dirty="0"/>
              <a:t>Why feedback matters: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incorrect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future model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 user trust</a:t>
            </a:r>
          </a:p>
        </p:txBody>
      </p:sp>
    </p:spTree>
    <p:extLst>
      <p:ext uri="{BB962C8B-B14F-4D97-AF65-F5344CB8AC3E}">
        <p14:creationId xmlns:p14="http://schemas.microsoft.com/office/powerpoint/2010/main" val="420375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E6B81C-0628-51FB-F647-5559DAB1BAA3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Prediction Review by Admin</a:t>
            </a:r>
          </a:p>
          <a:p>
            <a:pPr>
              <a:buNone/>
            </a:pPr>
            <a:r>
              <a:rPr lang="en-US" dirty="0"/>
              <a:t>Admin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 user prediction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See feedback 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Flag incorrect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 predictions for review or retraining</a:t>
            </a:r>
          </a:p>
          <a:p>
            <a:pPr>
              <a:buNone/>
            </a:pPr>
            <a:r>
              <a:rPr lang="en-US" dirty="0"/>
              <a:t>This ensures </a:t>
            </a:r>
            <a:r>
              <a:rPr lang="en-US" b="1" dirty="0"/>
              <a:t>continuous improvement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16974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5FAA1E-222C-D6CD-A013-10C90A442793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4️⃣ Using Feedback for Improvement</a:t>
            </a:r>
          </a:p>
          <a:p>
            <a:pPr>
              <a:buNone/>
            </a:pPr>
            <a:r>
              <a:rPr lang="en-IN" dirty="0"/>
              <a:t>Explain conceptually: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Feedback → Analysis → Dataset improvement → Retraining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Feedback does not immediately change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during model update cycles</a:t>
            </a:r>
          </a:p>
        </p:txBody>
      </p:sp>
    </p:spTree>
    <p:extLst>
      <p:ext uri="{BB962C8B-B14F-4D97-AF65-F5344CB8AC3E}">
        <p14:creationId xmlns:p14="http://schemas.microsoft.com/office/powerpoint/2010/main" val="14675493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41E009-0570-DE53-1670-585CC42B911C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🛠️ Hands-on Session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prediction logs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feedback form (rating / comments)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Save feedback in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Admin UI to view and flag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 feedback summary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📝 Task for Students</a:t>
            </a:r>
          </a:p>
          <a:p>
            <a:pPr>
              <a:buNone/>
            </a:pPr>
            <a:r>
              <a:rPr lang="en-IN" dirty="0"/>
              <a:t>✅ Store prediction logs</a:t>
            </a:r>
            <a:br>
              <a:rPr lang="en-IN" dirty="0"/>
            </a:br>
            <a:r>
              <a:rPr lang="en-IN" dirty="0"/>
              <a:t>✅ Implement feedback submission</a:t>
            </a:r>
            <a:br>
              <a:rPr lang="en-IN" dirty="0"/>
            </a:br>
            <a:r>
              <a:rPr lang="en-IN" dirty="0"/>
              <a:t>✅ Display feedback in admin panel</a:t>
            </a:r>
            <a:br>
              <a:rPr lang="en-IN" dirty="0"/>
            </a:br>
            <a:r>
              <a:rPr lang="en-IN" dirty="0"/>
              <a:t>✅ Flag incorrect predictions</a:t>
            </a:r>
            <a:br>
              <a:rPr lang="en-IN" dirty="0"/>
            </a:br>
            <a:r>
              <a:rPr lang="en-IN" dirty="0"/>
              <a:t>✅ Push code to GitHub</a:t>
            </a:r>
          </a:p>
        </p:txBody>
      </p:sp>
    </p:spTree>
    <p:extLst>
      <p:ext uri="{BB962C8B-B14F-4D97-AF65-F5344CB8AC3E}">
        <p14:creationId xmlns:p14="http://schemas.microsoft.com/office/powerpoint/2010/main" val="2824041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CB4E4C-637C-5091-3668-A8A6B1648C53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Outcome of Day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Logs and feedback system working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can review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ready for improvement cycle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Ready for </a:t>
            </a:r>
            <a:r>
              <a:rPr lang="en-US" b="1" dirty="0"/>
              <a:t>Final Testing &amp; Evaluation (Day 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1875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62ED46-9F5E-5C53-B4DF-B195665EB381}"/>
              </a:ext>
            </a:extLst>
          </p:cNvPr>
          <p:cNvSpPr txBox="1"/>
          <p:nvPr/>
        </p:nvSpPr>
        <p:spPr>
          <a:xfrm>
            <a:off x="3048000" y="158451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📅 Day 6 – Testing, Debugging &amp; Evaluation Prep</a:t>
            </a:r>
          </a:p>
          <a:p>
            <a:pPr>
              <a:buNone/>
            </a:pPr>
            <a:r>
              <a:rPr lang="en-IN" b="1" dirty="0"/>
              <a:t>Theory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Milestone 4 evaluation checklist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Common issues in admin &amp; visualization modules</a:t>
            </a:r>
          </a:p>
          <a:p>
            <a:pPr>
              <a:buNone/>
            </a:pPr>
            <a:r>
              <a:rPr lang="en-IN" b="1" dirty="0"/>
              <a:t>Hands-on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End-to-end testing: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Login → Input Education → Prediction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Visualization → Admin Review → Feedback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Fix bugs and UI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Prepare demo flow</a:t>
            </a:r>
          </a:p>
          <a:p>
            <a:pPr>
              <a:buNone/>
            </a:pPr>
            <a:r>
              <a:rPr lang="en-IN" b="1" dirty="0"/>
              <a:t>Outcome</a:t>
            </a:r>
          </a:p>
          <a:p>
            <a:pPr>
              <a:buNone/>
            </a:pPr>
            <a:r>
              <a:rPr lang="en-IN" dirty="0"/>
              <a:t>🎯 Milestone 4 completed</a:t>
            </a:r>
            <a:br>
              <a:rPr lang="en-IN" dirty="0"/>
            </a:br>
            <a:r>
              <a:rPr lang="en-IN" dirty="0"/>
              <a:t>🎯 Ready for final evaluation</a:t>
            </a:r>
          </a:p>
        </p:txBody>
      </p:sp>
    </p:spTree>
    <p:extLst>
      <p:ext uri="{BB962C8B-B14F-4D97-AF65-F5344CB8AC3E}">
        <p14:creationId xmlns:p14="http://schemas.microsoft.com/office/powerpoint/2010/main" val="22973693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4C5A08-2B6A-049A-F207-DE18121A8529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 of Day 6</a:t>
            </a:r>
          </a:p>
          <a:p>
            <a:pPr>
              <a:buNone/>
            </a:pPr>
            <a:r>
              <a:rPr lang="en-US" dirty="0"/>
              <a:t>By the end of Day 6, students will: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 </a:t>
            </a:r>
            <a:r>
              <a:rPr lang="en-US" b="1" dirty="0"/>
              <a:t>end-to-end testing</a:t>
            </a:r>
            <a:r>
              <a:rPr lang="en-US" dirty="0"/>
              <a:t> of Milestone 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 </a:t>
            </a:r>
            <a:r>
              <a:rPr lang="en-US" b="1" dirty="0"/>
              <a:t>common bugs</a:t>
            </a:r>
            <a:r>
              <a:rPr lang="en-US" dirty="0"/>
              <a:t> in visualization and admin modules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Validate </a:t>
            </a:r>
            <a:r>
              <a:rPr lang="en-US" b="1" dirty="0"/>
              <a:t>security and role-based access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Prepare a </a:t>
            </a:r>
            <a:r>
              <a:rPr lang="en-US" b="1" dirty="0"/>
              <a:t>clean demo flow</a:t>
            </a:r>
            <a:r>
              <a:rPr lang="en-US" dirty="0"/>
              <a:t> for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Finalize all </a:t>
            </a:r>
            <a:r>
              <a:rPr lang="en-US" b="1" dirty="0"/>
              <a:t>deliverables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577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E01AF6-5F52-CC14-8E6A-D20B81A44CC3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Why Testing Is Crucial</a:t>
            </a:r>
          </a:p>
          <a:p>
            <a:pPr>
              <a:buNone/>
            </a:pPr>
            <a:r>
              <a:rPr lang="en-US" dirty="0"/>
              <a:t>Even if features work individually, they must work </a:t>
            </a:r>
            <a:r>
              <a:rPr lang="en-US" b="1" dirty="0"/>
              <a:t>together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Testing ensures: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Correct predictions displayed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Visualizations show accurate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actions reflect immediately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security loopholes</a:t>
            </a:r>
          </a:p>
        </p:txBody>
      </p:sp>
    </p:spTree>
    <p:extLst>
      <p:ext uri="{BB962C8B-B14F-4D97-AF65-F5344CB8AC3E}">
        <p14:creationId xmlns:p14="http://schemas.microsoft.com/office/powerpoint/2010/main" val="3756809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3E011A-C9CD-C288-D585-4A8F93DEE982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2️⃣ End-to-End Flow Validation</a:t>
            </a:r>
          </a:p>
          <a:p>
            <a:pPr>
              <a:buNone/>
            </a:pPr>
            <a:r>
              <a:rPr lang="en-IN" dirty="0"/>
              <a:t>Students must test the full flow: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User Login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Education Input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Job Prediction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Visualizations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Career Insights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Feedback Submission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Admin Review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→ Logs &amp; Dataset Controls</a:t>
            </a:r>
          </a:p>
        </p:txBody>
      </p:sp>
    </p:spTree>
    <p:extLst>
      <p:ext uri="{BB962C8B-B14F-4D97-AF65-F5344CB8AC3E}">
        <p14:creationId xmlns:p14="http://schemas.microsoft.com/office/powerpoint/2010/main" val="31322365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AD1149-0720-3C92-D15A-AB5EE06E1273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Common Issues in Milestone 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Charts not loading due to API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Incorrect aggregation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Feedback not saving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routes accessible to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 upload format errors</a:t>
            </a:r>
          </a:p>
          <a:p>
            <a:pPr>
              <a:buNone/>
            </a:pPr>
            <a:r>
              <a:rPr lang="en-US" dirty="0"/>
              <a:t>Discuss how to identify and fix these issues.</a:t>
            </a:r>
          </a:p>
        </p:txBody>
      </p:sp>
    </p:spTree>
    <p:extLst>
      <p:ext uri="{BB962C8B-B14F-4D97-AF65-F5344CB8AC3E}">
        <p14:creationId xmlns:p14="http://schemas.microsoft.com/office/powerpoint/2010/main" val="17432530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CFFC43-2DA5-4DBE-B111-A709113A837E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4️⃣ Evaluation Checklist</a:t>
            </a:r>
          </a:p>
          <a:p>
            <a:pPr>
              <a:buNone/>
            </a:pPr>
            <a:r>
              <a:rPr lang="en-US" dirty="0"/>
              <a:t>Students must ensure: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Milestone 4 features implemented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Visualizations clear and meaningful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dashboard fully functional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Feedback and logs visible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UI clean and navigable</a:t>
            </a:r>
          </a:p>
        </p:txBody>
      </p:sp>
    </p:spTree>
    <p:extLst>
      <p:ext uri="{BB962C8B-B14F-4D97-AF65-F5344CB8AC3E}">
        <p14:creationId xmlns:p14="http://schemas.microsoft.com/office/powerpoint/2010/main" val="19387703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274A61-33D3-581B-B682-3A284CB8207C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🛠️ Hands-on Session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Test all APIs using Postman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Test UI for User and Admin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Verify dataset upload &amp; retraining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Fix bugs and improve 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Prepare demo script and screenshots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📝 Task for Students</a:t>
            </a:r>
          </a:p>
          <a:p>
            <a:pPr>
              <a:buNone/>
            </a:pPr>
            <a:r>
              <a:rPr lang="en-IN" dirty="0"/>
              <a:t>✅ Complete end-to-end testing</a:t>
            </a:r>
            <a:br>
              <a:rPr lang="en-IN" dirty="0"/>
            </a:br>
            <a:r>
              <a:rPr lang="en-IN" dirty="0"/>
              <a:t>✅ Fix all identified issues</a:t>
            </a:r>
            <a:br>
              <a:rPr lang="en-IN" dirty="0"/>
            </a:br>
            <a:r>
              <a:rPr lang="en-IN" dirty="0"/>
              <a:t>✅ Prepare demo flow</a:t>
            </a:r>
            <a:br>
              <a:rPr lang="en-IN" dirty="0"/>
            </a:br>
            <a:r>
              <a:rPr lang="en-IN" dirty="0"/>
              <a:t>✅ Final code push to GitHub</a:t>
            </a:r>
            <a:br>
              <a:rPr lang="en-IN" dirty="0"/>
            </a:br>
            <a:r>
              <a:rPr lang="en-IN" dirty="0"/>
              <a:t>✅ Keep screenshots &amp; notes ready</a:t>
            </a:r>
          </a:p>
        </p:txBody>
      </p:sp>
    </p:spTree>
    <p:extLst>
      <p:ext uri="{BB962C8B-B14F-4D97-AF65-F5344CB8AC3E}">
        <p14:creationId xmlns:p14="http://schemas.microsoft.com/office/powerpoint/2010/main" val="28877682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E9CCCF-4F46-2F49-FC26-9EFEE2FE9BEA}"/>
              </a:ext>
            </a:extLst>
          </p:cNvPr>
          <p:cNvSpPr txBox="1"/>
          <p:nvPr/>
        </p:nvSpPr>
        <p:spPr>
          <a:xfrm>
            <a:off x="3048000" y="255401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Module 4: Visualization and Admin Controls </a:t>
            </a:r>
          </a:p>
          <a:p>
            <a:r>
              <a:rPr lang="en-US" dirty="0"/>
              <a:t>• Data visualizations of common education-to-job mappings. </a:t>
            </a:r>
          </a:p>
          <a:p>
            <a:r>
              <a:rPr lang="en-US" dirty="0"/>
              <a:t>• Insights on career transitions and trends based on dataset. </a:t>
            </a:r>
          </a:p>
          <a:p>
            <a:r>
              <a:rPr lang="en-US" dirty="0"/>
              <a:t>• Admin panel: upload dataset, trigger retraining, manage users and predictions. </a:t>
            </a:r>
          </a:p>
          <a:p>
            <a:r>
              <a:rPr lang="en-US" dirty="0"/>
              <a:t>• Feedback system for users to rate suggestion relevance.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34734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0194E8-9C0D-0720-5183-D90009448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4" y="1428471"/>
            <a:ext cx="6849431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84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A62615-4F6E-E191-03DC-1AFB77703EC4}"/>
              </a:ext>
            </a:extLst>
          </p:cNvPr>
          <p:cNvSpPr txBox="1"/>
          <p:nvPr/>
        </p:nvSpPr>
        <p:spPr>
          <a:xfrm>
            <a:off x="3048000" y="28288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Milestone 4 Evaluation (Week 10): </a:t>
            </a:r>
          </a:p>
          <a:p>
            <a:r>
              <a:rPr lang="en-US" dirty="0"/>
              <a:t>• Data visualizations and trends are accurately displayed. </a:t>
            </a:r>
          </a:p>
          <a:p>
            <a:r>
              <a:rPr lang="en-US" dirty="0"/>
              <a:t>• Admin can manage models, data, and user activity. </a:t>
            </a:r>
          </a:p>
          <a:p>
            <a:r>
              <a:rPr lang="en-US" dirty="0"/>
              <a:t>• Feedback and improvements based on user interactions are possible.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8074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B7F0A3-7908-CE21-C3FB-FBD2530BF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069" y="0"/>
            <a:ext cx="6971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880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00D9CC89-BDFF-2AC5-EA37-7FD484E0D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94" y="94784"/>
            <a:ext cx="7783011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94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B12CBC13-E64C-7C61-0E71-527925C81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1361786"/>
            <a:ext cx="8916644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112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91683A3A-813B-85FD-0C00-0206E3A1E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99" y="0"/>
            <a:ext cx="9073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5828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27</TotalTime>
  <Words>2046</Words>
  <Application>Microsoft Office PowerPoint</Application>
  <PresentationFormat>Widescreen</PresentationFormat>
  <Paragraphs>376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Courier New</vt:lpstr>
      <vt:lpstr>Tw Cen MT</vt:lpstr>
      <vt:lpstr>Droplet</vt:lpstr>
      <vt:lpstr>MILESTONE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Yuvaraj</dc:creator>
  <cp:lastModifiedBy>Pavithra Yuvaraj</cp:lastModifiedBy>
  <cp:revision>1</cp:revision>
  <dcterms:created xsi:type="dcterms:W3CDTF">2025-12-18T13:34:27Z</dcterms:created>
  <dcterms:modified xsi:type="dcterms:W3CDTF">2025-12-18T14:02:03Z</dcterms:modified>
</cp:coreProperties>
</file>